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BEYX9qkGIGUJ_hjUe5gBMowLIADE74f_Qsw0e2b7gCc/edit?tab=t.0"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dotengine.org/en/stable/about/system_requirements.html"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1213be70e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21213be70e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project is called “Darkstew Hollow,” a single player video game.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29f3475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529f3475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331b4aba7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331b4aba7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5331b4aba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5331b4aba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https://docs.google.com/document/d/1BEYX9qkGIGUJ_hjUe5gBMowLIADE74f_Qsw0e2b7gCc/edit?tab=t.0</a:t>
            </a:r>
            <a:r>
              <a:rPr lang="en"/>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21213be70e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21213be70e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https://docs.godotengine.org/en/stable/about/system_requirements.html</a:t>
            </a: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213d1933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213d1933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200000"/>
              </a:lnSpc>
              <a:spcBef>
                <a:spcPts val="0"/>
              </a:spcBef>
              <a:spcAft>
                <a:spcPts val="0"/>
              </a:spcAft>
              <a:buClr>
                <a:schemeClr val="dk1"/>
              </a:buClr>
              <a:buSzPts val="1100"/>
              <a:buChar char="-"/>
            </a:pPr>
            <a:r>
              <a:rPr lang="en" sz="1200">
                <a:solidFill>
                  <a:schemeClr val="dk1"/>
                </a:solidFill>
              </a:rPr>
              <a:t>Players should have a variety of different solutions to counter enemies (melee, magic, ranged, etc).</a:t>
            </a:r>
            <a:endParaRPr sz="1200">
              <a:solidFill>
                <a:schemeClr val="dk1"/>
              </a:solidFill>
            </a:endParaRPr>
          </a:p>
          <a:p>
            <a:pPr indent="-304800" lvl="0" marL="457200" rtl="0" algn="l">
              <a:lnSpc>
                <a:spcPct val="200000"/>
              </a:lnSpc>
              <a:spcBef>
                <a:spcPts val="0"/>
              </a:spcBef>
              <a:spcAft>
                <a:spcPts val="0"/>
              </a:spcAft>
              <a:buClr>
                <a:schemeClr val="dk1"/>
              </a:buClr>
              <a:buSzPts val="1200"/>
              <a:buChar char="-"/>
            </a:pPr>
            <a:r>
              <a:rPr lang="en" sz="1200">
                <a:solidFill>
                  <a:schemeClr val="dk1"/>
                </a:solidFill>
              </a:rPr>
              <a:t>Game should allow a log so players know how many materials is needed to construct a building when delving in the mines (toggleable).</a:t>
            </a:r>
            <a:endParaRPr sz="1200">
              <a:solidFill>
                <a:schemeClr val="dk1"/>
              </a:solidFill>
            </a:endParaRPr>
          </a:p>
          <a:p>
            <a:pPr indent="-304800" lvl="0" marL="457200" rtl="0" algn="l">
              <a:lnSpc>
                <a:spcPct val="200000"/>
              </a:lnSpc>
              <a:spcBef>
                <a:spcPts val="0"/>
              </a:spcBef>
              <a:spcAft>
                <a:spcPts val="0"/>
              </a:spcAft>
              <a:buClr>
                <a:schemeClr val="dk1"/>
              </a:buClr>
              <a:buSzPts val="1200"/>
              <a:buChar char="-"/>
            </a:pPr>
            <a:r>
              <a:rPr lang="en" sz="1200">
                <a:solidFill>
                  <a:schemeClr val="dk1"/>
                </a:solidFill>
              </a:rPr>
              <a:t>NPCs should exhibit realistic behavior when encountered; enemy AI the</a:t>
            </a:r>
            <a:r>
              <a:rPr lang="en" sz="1200">
                <a:solidFill>
                  <a:schemeClr val="dk1"/>
                </a:solidFill>
                <a:latin typeface="Times New Roman"/>
                <a:ea typeface="Times New Roman"/>
                <a:cs typeface="Times New Roman"/>
                <a:sym typeface="Times New Roman"/>
              </a:rPr>
              <a:t> same when encountered.</a:t>
            </a:r>
            <a:endParaRPr sz="12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213d19331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213d19331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13d19331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213d19331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21213be70e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21213be70e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During the development of Darkstew Hollow, there have been many implementations as well as improvements on existing features.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a:t>
            </a:r>
            <a:r>
              <a:rPr lang="en"/>
              <a:t>challenge</a:t>
            </a:r>
            <a:r>
              <a:rPr lang="en"/>
              <a:t> in terms of game-design and intuitive UI is the tutorial level, which has gone through several iterations with the aim to introduce the plot and the player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the UI has also been developed, providing a consistent theme that is responsive to user input. With the most recent </a:t>
            </a:r>
            <a:r>
              <a:rPr lang="en"/>
              <a:t>achievement</a:t>
            </a:r>
            <a:r>
              <a:rPr lang="en"/>
              <a:t> being the inventory system, we were able to manage and visualize data effectively to the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important challenge was the systematized spawning of objects, such as naturally occuring mineral nodes and enemies. Godot’s engine has made this difficult to accomplish at first, but we were able to appropriately resolve the issue after extensive testing.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very recent challenge is of the new pathfinding system. Previously, our prototype enemies moved on a </a:t>
            </a:r>
            <a:r>
              <a:rPr lang="en"/>
              <a:t>predetermined</a:t>
            </a:r>
            <a:r>
              <a:rPr lang="en"/>
              <a:t> path, but recent discove</a:t>
            </a:r>
            <a:r>
              <a:rPr lang="en"/>
              <a:t>ries in Godot have shown that built-in pathfinding is available, </a:t>
            </a:r>
            <a:endParaRPr/>
          </a:p>
          <a:p>
            <a:pPr indent="0" lvl="0" marL="0" rtl="0" algn="l">
              <a:spcBef>
                <a:spcPts val="0"/>
              </a:spcBef>
              <a:spcAft>
                <a:spcPts val="0"/>
              </a:spcAft>
              <a:buNone/>
            </a:pPr>
            <a:r>
              <a:rPr lang="en"/>
              <a:t>so both enemies and other characters are capable of wandering and following the player perfectly.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Meanwhile, we have also made great progress in improving both the enemies and the player’s control. </a:t>
            </a:r>
            <a:endParaRPr/>
          </a:p>
          <a:p>
            <a:pPr indent="0" lvl="0" marL="0" rtl="0" algn="l">
              <a:spcBef>
                <a:spcPts val="0"/>
              </a:spcBef>
              <a:spcAft>
                <a:spcPts val="0"/>
              </a:spcAft>
              <a:buNone/>
            </a:pPr>
            <a:r>
              <a:rPr lang="en"/>
              <a:t>While we have spent less time on the enemies themselves, we were able to improve their AI by giving them the ability to see the player and chase them.</a:t>
            </a:r>
            <a:endParaRPr/>
          </a:p>
          <a:p>
            <a:pPr indent="0" lvl="0" marL="0" rtl="0" algn="l">
              <a:spcBef>
                <a:spcPts val="0"/>
              </a:spcBef>
              <a:spcAft>
                <a:spcPts val="0"/>
              </a:spcAft>
              <a:buNone/>
            </a:pPr>
            <a:r>
              <a:rPr lang="en"/>
              <a:t>As for the player, we have given them more controls that will be </a:t>
            </a:r>
            <a:r>
              <a:rPr lang="en"/>
              <a:t>featured</a:t>
            </a:r>
            <a:r>
              <a:rPr lang="en"/>
              <a:t> in the final game, such as mining and sprinting. </a:t>
            </a:r>
            <a:endParaRPr/>
          </a:p>
          <a:p>
            <a:pPr indent="0" lvl="0" marL="0" rtl="0" algn="l">
              <a:spcBef>
                <a:spcPts val="0"/>
              </a:spcBef>
              <a:spcAft>
                <a:spcPts val="0"/>
              </a:spcAft>
              <a:buNone/>
            </a:pPr>
            <a:r>
              <a:rPr lang="en"/>
              <a:t>We have also added varying support for the use of </a:t>
            </a:r>
            <a:r>
              <a:rPr lang="en"/>
              <a:t>console</a:t>
            </a:r>
            <a:r>
              <a:rPr lang="en"/>
              <a:t> </a:t>
            </a:r>
            <a:r>
              <a:rPr lang="en"/>
              <a:t>controllers.</a:t>
            </a:r>
            <a:endParaRPr/>
          </a:p>
          <a:p>
            <a:pPr indent="0" lvl="0" marL="0" rtl="0" algn="l">
              <a:spcBef>
                <a:spcPts val="0"/>
              </a:spcBef>
              <a:spcAft>
                <a:spcPts val="0"/>
              </a:spcAft>
              <a:buNone/>
            </a:pPr>
            <a:r>
              <a:rPr lang="en"/>
              <a:t>Lastly, we have implemented player health, which is represented by a GUI element in the bottom left of the screen.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21213be70e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21213be70e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21213be70e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21213be70e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1e5d57ae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1e5d57ae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conclusion, Darkstew Hollow is a single player video game with standard requirements that are able to be met on considerably low-end computers.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have become familiar with Godot and have </a:t>
            </a:r>
            <a:r>
              <a:rPr lang="en"/>
              <a:t>successfully</a:t>
            </a:r>
            <a:r>
              <a:rPr lang="en"/>
              <a:t> added almost all core features we have planned, with an increasing velocity from last semester.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Many of its core ideas are derived from games that are similar to it, with a lighter, humorous twist.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controls the returning hero, Johnny, who has arrived to his hometown only to learn about an unfortunate incident in the mines.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 must now fight a large variety of enemies to save his friends (and restore their town) from the disturbed forces the hide below.</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s://docs.godotengine.org/en/stable/about/system_requirements.html" TargetMode="External"/><Relationship Id="rId5" Type="http://schemas.openxmlformats.org/officeDocument/2006/relationships/image" Target="../media/image25.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docs.godotengine.org/en/stable/about/system_requirements.html" TargetMode="External"/><Relationship Id="rId4" Type="http://schemas.openxmlformats.org/officeDocument/2006/relationships/image" Target="../media/image10.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4.jpg"/><Relationship Id="rId5" Type="http://schemas.openxmlformats.org/officeDocument/2006/relationships/image" Target="../media/image1.jpg"/><Relationship Id="rId6"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hyperlink" Target="http://drive.google.com/file/d/1LROuyK7ig6ZuuyojhWdyr_S7RsjVorWC/view" TargetMode="External"/><Relationship Id="rId6"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hyperlink" Target="http://drive.google.com/file/d/1r6NgoJ640NCgOFtqE0pOHCqPvNzgwGRP/view" TargetMode="External"/><Relationship Id="rId6"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24.png"/><Relationship Id="rId8"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8" name="Shape 98"/>
        <p:cNvGrpSpPr/>
        <p:nvPr/>
      </p:nvGrpSpPr>
      <p:grpSpPr>
        <a:xfrm>
          <a:off x="0" y="0"/>
          <a:ext cx="0" cy="0"/>
          <a:chOff x="0" y="0"/>
          <a:chExt cx="0" cy="0"/>
        </a:xfrm>
      </p:grpSpPr>
      <p:pic>
        <p:nvPicPr>
          <p:cNvPr id="99" name="Google Shape;99;p25"/>
          <p:cNvPicPr preferRelativeResize="0"/>
          <p:nvPr/>
        </p:nvPicPr>
        <p:blipFill rotWithShape="1">
          <a:blip r:embed="rId3">
            <a:alphaModFix amt="70000"/>
          </a:blip>
          <a:srcRect b="0" l="78151" r="0" t="0"/>
          <a:stretch/>
        </p:blipFill>
        <p:spPr>
          <a:xfrm>
            <a:off x="6733400" y="36900"/>
            <a:ext cx="2410601" cy="5106600"/>
          </a:xfrm>
          <a:prstGeom prst="rect">
            <a:avLst/>
          </a:prstGeom>
          <a:noFill/>
          <a:ln>
            <a:noFill/>
          </a:ln>
        </p:spPr>
      </p:pic>
      <p:sp>
        <p:nvSpPr>
          <p:cNvPr id="100" name="Google Shape;100;p25"/>
          <p:cNvSpPr/>
          <p:nvPr/>
        </p:nvSpPr>
        <p:spPr>
          <a:xfrm rot="-5400000">
            <a:off x="4141550" y="2551600"/>
            <a:ext cx="5106600" cy="77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1" name="Google Shape;101;p25">
            <a:hlinkClick r:id="rId4"/>
          </p:cNvPr>
          <p:cNvPicPr preferRelativeResize="0"/>
          <p:nvPr/>
        </p:nvPicPr>
        <p:blipFill rotWithShape="1">
          <a:blip r:embed="rId5">
            <a:alphaModFix amt="50000"/>
          </a:blip>
          <a:srcRect b="-1160" l="15090" r="12113" t="1160"/>
          <a:stretch/>
        </p:blipFill>
        <p:spPr>
          <a:xfrm>
            <a:off x="0" y="25400"/>
            <a:ext cx="6656301" cy="5092701"/>
          </a:xfrm>
          <a:prstGeom prst="rect">
            <a:avLst/>
          </a:prstGeom>
          <a:noFill/>
          <a:ln>
            <a:noFill/>
          </a:ln>
        </p:spPr>
      </p:pic>
      <p:sp>
        <p:nvSpPr>
          <p:cNvPr id="102" name="Google Shape;102;p25"/>
          <p:cNvSpPr txBox="1"/>
          <p:nvPr>
            <p:ph idx="1" type="subTitle"/>
          </p:nvPr>
        </p:nvSpPr>
        <p:spPr>
          <a:xfrm>
            <a:off x="6656300" y="275400"/>
            <a:ext cx="2487600" cy="3178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600">
                <a:solidFill>
                  <a:srgbClr val="7EB8FE"/>
                </a:solidFill>
                <a:latin typeface="Algerian"/>
                <a:ea typeface="Algerian"/>
                <a:cs typeface="Algerian"/>
                <a:sym typeface="Algerian"/>
              </a:rPr>
              <a:t>By:</a:t>
            </a:r>
            <a:endParaRPr sz="1600">
              <a:solidFill>
                <a:srgbClr val="7EB8FE"/>
              </a:solidFill>
              <a:latin typeface="Algerian"/>
              <a:ea typeface="Algerian"/>
              <a:cs typeface="Algerian"/>
              <a:sym typeface="Algerian"/>
            </a:endParaRPr>
          </a:p>
          <a:p>
            <a:pPr indent="0" lvl="0" marL="0" rtl="0" algn="ctr">
              <a:spcBef>
                <a:spcPts val="0"/>
              </a:spcBef>
              <a:spcAft>
                <a:spcPts val="0"/>
              </a:spcAft>
              <a:buNone/>
            </a:pPr>
            <a:r>
              <a:rPr lang="en" sz="2400">
                <a:solidFill>
                  <a:srgbClr val="7EB8FE"/>
                </a:solidFill>
                <a:latin typeface="Algerian"/>
                <a:ea typeface="Algerian"/>
                <a:cs typeface="Algerian"/>
                <a:sym typeface="Algerian"/>
              </a:rPr>
              <a:t>Joseph Coats,</a:t>
            </a:r>
            <a:endParaRPr sz="2400">
              <a:solidFill>
                <a:srgbClr val="7EB8FE"/>
              </a:solidFill>
              <a:latin typeface="Algerian"/>
              <a:ea typeface="Algerian"/>
              <a:cs typeface="Algerian"/>
              <a:sym typeface="Algerian"/>
            </a:endParaRPr>
          </a:p>
          <a:p>
            <a:pPr indent="0" lvl="0" marL="0" rtl="0" algn="ctr">
              <a:spcBef>
                <a:spcPts val="0"/>
              </a:spcBef>
              <a:spcAft>
                <a:spcPts val="0"/>
              </a:spcAft>
              <a:buNone/>
            </a:pPr>
            <a:r>
              <a:rPr lang="en" sz="2400">
                <a:solidFill>
                  <a:srgbClr val="7EB8FE"/>
                </a:solidFill>
                <a:latin typeface="Algerian"/>
                <a:ea typeface="Algerian"/>
                <a:cs typeface="Algerian"/>
                <a:sym typeface="Algerian"/>
              </a:rPr>
              <a:t>Owen Manley, </a:t>
            </a:r>
            <a:endParaRPr sz="2400">
              <a:solidFill>
                <a:srgbClr val="7EB8FE"/>
              </a:solidFill>
              <a:latin typeface="Algerian"/>
              <a:ea typeface="Algerian"/>
              <a:cs typeface="Algerian"/>
              <a:sym typeface="Algerian"/>
            </a:endParaRPr>
          </a:p>
          <a:p>
            <a:pPr indent="0" lvl="0" marL="0" rtl="0" algn="ctr">
              <a:spcBef>
                <a:spcPts val="0"/>
              </a:spcBef>
              <a:spcAft>
                <a:spcPts val="0"/>
              </a:spcAft>
              <a:buNone/>
            </a:pPr>
            <a:r>
              <a:rPr lang="en" sz="2300">
                <a:solidFill>
                  <a:srgbClr val="7EB8FE"/>
                </a:solidFill>
                <a:latin typeface="Algerian"/>
                <a:ea typeface="Algerian"/>
                <a:cs typeface="Algerian"/>
                <a:sym typeface="Algerian"/>
              </a:rPr>
              <a:t>Kyle Walbring</a:t>
            </a:r>
            <a:endParaRPr sz="2300">
              <a:solidFill>
                <a:srgbClr val="7EB8FE"/>
              </a:solidFill>
              <a:latin typeface="Algerian"/>
              <a:ea typeface="Algerian"/>
              <a:cs typeface="Algerian"/>
              <a:sym typeface="Algerian"/>
            </a:endParaRPr>
          </a:p>
          <a:p>
            <a:pPr indent="0" lvl="0" marL="0" rtl="0" algn="ctr">
              <a:spcBef>
                <a:spcPts val="0"/>
              </a:spcBef>
              <a:spcAft>
                <a:spcPts val="0"/>
              </a:spcAft>
              <a:buNone/>
            </a:pPr>
            <a:r>
              <a:t/>
            </a:r>
            <a:endParaRPr sz="2300">
              <a:solidFill>
                <a:srgbClr val="7EB8FE"/>
              </a:solidFill>
              <a:latin typeface="Algerian"/>
              <a:ea typeface="Algerian"/>
              <a:cs typeface="Algerian"/>
              <a:sym typeface="Algerian"/>
            </a:endParaRPr>
          </a:p>
        </p:txBody>
      </p:sp>
      <p:grpSp>
        <p:nvGrpSpPr>
          <p:cNvPr id="103" name="Google Shape;103;p25"/>
          <p:cNvGrpSpPr/>
          <p:nvPr/>
        </p:nvGrpSpPr>
        <p:grpSpPr>
          <a:xfrm>
            <a:off x="0" y="-50"/>
            <a:ext cx="9144000" cy="5143500"/>
            <a:chOff x="0" y="-50"/>
            <a:chExt cx="9144000" cy="5143500"/>
          </a:xfrm>
        </p:grpSpPr>
        <p:sp>
          <p:nvSpPr>
            <p:cNvPr id="104" name="Google Shape;104;p25"/>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25"/>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25"/>
            <p:cNvSpPr/>
            <p:nvPr/>
          </p:nvSpPr>
          <p:spPr>
            <a:xfrm rot="10800000">
              <a:off x="7549125" y="3527325"/>
              <a:ext cx="1586700" cy="1586700"/>
            </a:xfrm>
            <a:prstGeom prst="diagStripe">
              <a:avLst>
                <a:gd fmla="val 74882" name="adj"/>
              </a:avLst>
            </a:prstGeom>
            <a:solidFill>
              <a:srgbClr val="42146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25"/>
            <p:cNvSpPr/>
            <p:nvPr/>
          </p:nvSpPr>
          <p:spPr>
            <a:xfrm rot="10800000">
              <a:off x="8169225" y="4147425"/>
              <a:ext cx="966600" cy="966600"/>
            </a:xfrm>
            <a:prstGeom prst="diagStripe">
              <a:avLst>
                <a:gd fmla="val 74882" name="adj"/>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25"/>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25"/>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25"/>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5"/>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12" name="Google Shape;112;p25" title="title.png"/>
          <p:cNvPicPr preferRelativeResize="0"/>
          <p:nvPr/>
        </p:nvPicPr>
        <p:blipFill>
          <a:blip r:embed="rId6">
            <a:alphaModFix/>
          </a:blip>
          <a:stretch>
            <a:fillRect/>
          </a:stretch>
        </p:blipFill>
        <p:spPr>
          <a:xfrm>
            <a:off x="1499350" y="1624800"/>
            <a:ext cx="3657600" cy="1828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116" name="Shape 116"/>
        <p:cNvGrpSpPr/>
        <p:nvPr/>
      </p:nvGrpSpPr>
      <p:grpSpPr>
        <a:xfrm>
          <a:off x="0" y="0"/>
          <a:ext cx="0" cy="0"/>
          <a:chOff x="0" y="0"/>
          <a:chExt cx="0" cy="0"/>
        </a:xfrm>
      </p:grpSpPr>
      <p:grpSp>
        <p:nvGrpSpPr>
          <p:cNvPr id="117" name="Google Shape;117;p26"/>
          <p:cNvGrpSpPr/>
          <p:nvPr/>
        </p:nvGrpSpPr>
        <p:grpSpPr>
          <a:xfrm>
            <a:off x="0" y="2290"/>
            <a:ext cx="9141301" cy="5143550"/>
            <a:chOff x="0" y="-50"/>
            <a:chExt cx="9141301" cy="5143550"/>
          </a:xfrm>
        </p:grpSpPr>
        <p:pic>
          <p:nvPicPr>
            <p:cNvPr descr="Placeholder image provided by ReLogic Studios' &quot;Terraria.&quot;" id="118" name="Google Shape;118;p26"/>
            <p:cNvPicPr preferRelativeResize="0"/>
            <p:nvPr/>
          </p:nvPicPr>
          <p:blipFill rotWithShape="1">
            <a:blip r:embed="rId3">
              <a:alphaModFix amt="30000"/>
            </a:blip>
            <a:srcRect b="6115" l="0" r="0" t="12991"/>
            <a:stretch/>
          </p:blipFill>
          <p:spPr>
            <a:xfrm>
              <a:off x="0" y="0"/>
              <a:ext cx="7773388" cy="5143500"/>
            </a:xfrm>
            <a:prstGeom prst="rect">
              <a:avLst/>
            </a:prstGeom>
            <a:noFill/>
            <a:ln>
              <a:noFill/>
            </a:ln>
          </p:spPr>
        </p:pic>
        <p:pic>
          <p:nvPicPr>
            <p:cNvPr descr="Placeholder image provided by ReLogic Studios' &quot;Terraria.&quot;" id="119" name="Google Shape;119;p26"/>
            <p:cNvPicPr preferRelativeResize="0"/>
            <p:nvPr/>
          </p:nvPicPr>
          <p:blipFill rotWithShape="1">
            <a:blip r:embed="rId3">
              <a:alphaModFix amt="30000"/>
            </a:blip>
            <a:srcRect b="6115" l="0" r="82367" t="12991"/>
            <a:stretch/>
          </p:blipFill>
          <p:spPr>
            <a:xfrm>
              <a:off x="7770701" y="-50"/>
              <a:ext cx="1370600" cy="5143500"/>
            </a:xfrm>
            <a:prstGeom prst="rect">
              <a:avLst/>
            </a:prstGeom>
            <a:noFill/>
            <a:ln>
              <a:noFill/>
            </a:ln>
          </p:spPr>
        </p:pic>
      </p:grpSp>
      <p:sp>
        <p:nvSpPr>
          <p:cNvPr id="120" name="Google Shape;120;p26"/>
          <p:cNvSpPr txBox="1"/>
          <p:nvPr>
            <p:ph type="title"/>
          </p:nvPr>
        </p:nvSpPr>
        <p:spPr>
          <a:xfrm>
            <a:off x="394425" y="445025"/>
            <a:ext cx="7007100" cy="572700"/>
          </a:xfrm>
          <a:prstGeom prst="rect">
            <a:avLst/>
          </a:prstGeom>
          <a:solidFill>
            <a:srgbClr val="42146F"/>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Impact"/>
                <a:ea typeface="Impact"/>
                <a:cs typeface="Impact"/>
                <a:sym typeface="Impact"/>
              </a:rPr>
              <a:t>What is Darkstew Hollow?</a:t>
            </a:r>
            <a:endParaRPr>
              <a:latin typeface="Impact"/>
              <a:ea typeface="Impact"/>
              <a:cs typeface="Impact"/>
              <a:sym typeface="Impact"/>
            </a:endParaRPr>
          </a:p>
        </p:txBody>
      </p:sp>
      <p:sp>
        <p:nvSpPr>
          <p:cNvPr id="121" name="Google Shape;121;p26"/>
          <p:cNvSpPr txBox="1"/>
          <p:nvPr>
            <p:ph idx="1" type="body"/>
          </p:nvPr>
        </p:nvSpPr>
        <p:spPr>
          <a:xfrm>
            <a:off x="664775" y="1152475"/>
            <a:ext cx="3960300" cy="3416400"/>
          </a:xfrm>
          <a:prstGeom prst="rect">
            <a:avLst/>
          </a:prstGeom>
          <a:ln>
            <a:noFill/>
          </a:ln>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Action-adventure game with roguelike elements.</a:t>
            </a:r>
            <a:endParaRPr/>
          </a:p>
          <a:p>
            <a:pPr indent="0" lvl="0" marL="0" rtl="0" algn="l">
              <a:spcBef>
                <a:spcPts val="1200"/>
              </a:spcBef>
              <a:spcAft>
                <a:spcPts val="0"/>
              </a:spcAft>
              <a:buNone/>
            </a:pPr>
            <a:r>
              <a:t/>
            </a:r>
            <a:endParaRPr sz="1200">
              <a:latin typeface="Times New Roman"/>
              <a:ea typeface="Times New Roman"/>
              <a:cs typeface="Times New Roman"/>
              <a:sym typeface="Times New Roman"/>
            </a:endParaRPr>
          </a:p>
          <a:p>
            <a:pPr indent="-342900" lvl="0" marL="457200" rtl="0" algn="l">
              <a:spcBef>
                <a:spcPts val="1200"/>
              </a:spcBef>
              <a:spcAft>
                <a:spcPts val="0"/>
              </a:spcAft>
              <a:buSzPts val="1800"/>
              <a:buChar char="-"/>
            </a:pPr>
            <a:r>
              <a:rPr lang="en"/>
              <a:t>Must fight back creatures and save residents to save the town.</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Differs</a:t>
            </a:r>
            <a:r>
              <a:rPr lang="en"/>
              <a:t> from roguelikes in that it lacks procedural generation. </a:t>
            </a:r>
            <a:endParaRPr/>
          </a:p>
        </p:txBody>
      </p:sp>
      <p:grpSp>
        <p:nvGrpSpPr>
          <p:cNvPr id="122" name="Google Shape;122;p26"/>
          <p:cNvGrpSpPr/>
          <p:nvPr/>
        </p:nvGrpSpPr>
        <p:grpSpPr>
          <a:xfrm>
            <a:off x="0" y="-50"/>
            <a:ext cx="9144000" cy="5143500"/>
            <a:chOff x="0" y="-50"/>
            <a:chExt cx="9144000" cy="5143500"/>
          </a:xfrm>
        </p:grpSpPr>
        <p:sp>
          <p:nvSpPr>
            <p:cNvPr id="123" name="Google Shape;123;p26"/>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24" name="Google Shape;124;p26"/>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25" name="Google Shape;125;p26"/>
            <p:cNvSpPr/>
            <p:nvPr/>
          </p:nvSpPr>
          <p:spPr>
            <a:xfrm rot="10800000">
              <a:off x="7549125" y="3527325"/>
              <a:ext cx="1586700" cy="1586700"/>
            </a:xfrm>
            <a:prstGeom prst="diagStripe">
              <a:avLst>
                <a:gd fmla="val 74882" name="adj"/>
              </a:avLst>
            </a:prstGeom>
            <a:solidFill>
              <a:srgbClr val="42146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26" name="Google Shape;126;p26"/>
            <p:cNvSpPr/>
            <p:nvPr/>
          </p:nvSpPr>
          <p:spPr>
            <a:xfrm rot="10800000">
              <a:off x="8169225" y="4147425"/>
              <a:ext cx="966600" cy="966600"/>
            </a:xfrm>
            <a:prstGeom prst="diagStripe">
              <a:avLst>
                <a:gd fmla="val 74882" name="adj"/>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27" name="Google Shape;127;p26"/>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28" name="Google Shape;128;p26"/>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29" name="Google Shape;129;p26"/>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30" name="Google Shape;130;p26"/>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131" name="Google Shape;131;p26"/>
          <p:cNvGrpSpPr/>
          <p:nvPr/>
        </p:nvGrpSpPr>
        <p:grpSpPr>
          <a:xfrm>
            <a:off x="317325" y="408125"/>
            <a:ext cx="7084200" cy="615000"/>
            <a:chOff x="317325" y="408125"/>
            <a:chExt cx="7084200" cy="615000"/>
          </a:xfrm>
        </p:grpSpPr>
        <p:sp>
          <p:nvSpPr>
            <p:cNvPr id="132" name="Google Shape;132;p26"/>
            <p:cNvSpPr/>
            <p:nvPr/>
          </p:nvSpPr>
          <p:spPr>
            <a:xfrm>
              <a:off x="317325" y="408125"/>
              <a:ext cx="70842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6"/>
            <p:cNvSpPr/>
            <p:nvPr/>
          </p:nvSpPr>
          <p:spPr>
            <a:xfrm rot="-5400000">
              <a:off x="48375" y="677075"/>
              <a:ext cx="6150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34" name="Google Shape;134;p26"/>
          <p:cNvPicPr preferRelativeResize="0"/>
          <p:nvPr/>
        </p:nvPicPr>
        <p:blipFill>
          <a:blip r:embed="rId4">
            <a:alphaModFix/>
          </a:blip>
          <a:stretch>
            <a:fillRect/>
          </a:stretch>
        </p:blipFill>
        <p:spPr>
          <a:xfrm>
            <a:off x="5280425" y="1186550"/>
            <a:ext cx="2639930" cy="3416399"/>
          </a:xfrm>
          <a:prstGeom prst="rect">
            <a:avLst/>
          </a:prstGeom>
          <a:noFill/>
          <a:ln cap="flat" cmpd="sng" w="38100">
            <a:solidFill>
              <a:srgbClr val="42146F"/>
            </a:solidFill>
            <a:prstDash val="solid"/>
            <a:round/>
            <a:headEnd len="sm" w="sm" type="none"/>
            <a:tailEnd len="sm" w="sm" type="none"/>
          </a:ln>
        </p:spPr>
      </p:pic>
      <p:pic>
        <p:nvPicPr>
          <p:cNvPr id="135" name="Google Shape;135;p26"/>
          <p:cNvPicPr preferRelativeResize="0"/>
          <p:nvPr/>
        </p:nvPicPr>
        <p:blipFill>
          <a:blip r:embed="rId5">
            <a:alphaModFix/>
          </a:blip>
          <a:stretch>
            <a:fillRect/>
          </a:stretch>
        </p:blipFill>
        <p:spPr>
          <a:xfrm>
            <a:off x="5280421" y="1186557"/>
            <a:ext cx="2639926" cy="3416394"/>
          </a:xfrm>
          <a:prstGeom prst="rect">
            <a:avLst/>
          </a:prstGeom>
          <a:noFill/>
          <a:ln cap="flat" cmpd="sng" w="38100">
            <a:solidFill>
              <a:srgbClr val="42146F"/>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9" name="Shape 139"/>
        <p:cNvGrpSpPr/>
        <p:nvPr/>
      </p:nvGrpSpPr>
      <p:grpSpPr>
        <a:xfrm>
          <a:off x="0" y="0"/>
          <a:ext cx="0" cy="0"/>
          <a:chOff x="0" y="0"/>
          <a:chExt cx="0" cy="0"/>
        </a:xfrm>
      </p:grpSpPr>
      <p:pic>
        <p:nvPicPr>
          <p:cNvPr id="140" name="Google Shape;140;p27">
            <a:hlinkClick r:id="rId3"/>
          </p:cNvPr>
          <p:cNvPicPr preferRelativeResize="0"/>
          <p:nvPr/>
        </p:nvPicPr>
        <p:blipFill rotWithShape="1">
          <a:blip r:embed="rId4">
            <a:alphaModFix amt="30000"/>
          </a:blip>
          <a:srcRect b="0" l="6909" r="3940" t="0"/>
          <a:stretch/>
        </p:blipFill>
        <p:spPr>
          <a:xfrm>
            <a:off x="0" y="75175"/>
            <a:ext cx="9144000" cy="4993150"/>
          </a:xfrm>
          <a:prstGeom prst="rect">
            <a:avLst/>
          </a:prstGeom>
          <a:noFill/>
          <a:ln>
            <a:noFill/>
          </a:ln>
        </p:spPr>
      </p:pic>
      <p:sp>
        <p:nvSpPr>
          <p:cNvPr id="141" name="Google Shape;141;p27"/>
          <p:cNvSpPr txBox="1"/>
          <p:nvPr>
            <p:ph type="title"/>
          </p:nvPr>
        </p:nvSpPr>
        <p:spPr>
          <a:xfrm>
            <a:off x="394425" y="445025"/>
            <a:ext cx="7007100" cy="572700"/>
          </a:xfrm>
          <a:prstGeom prst="rect">
            <a:avLst/>
          </a:prstGeom>
          <a:solidFill>
            <a:srgbClr val="42146F"/>
          </a:solidFill>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solidFill>
                  <a:srgbClr val="7EB8FE"/>
                </a:solidFill>
                <a:latin typeface="Algerian"/>
                <a:ea typeface="Algerian"/>
                <a:cs typeface="Algerian"/>
                <a:sym typeface="Algerian"/>
              </a:rPr>
              <a:t>Motivation</a:t>
            </a:r>
            <a:endParaRPr sz="2320">
              <a:solidFill>
                <a:srgbClr val="7EB8FE"/>
              </a:solidFill>
              <a:latin typeface="Algerian"/>
              <a:ea typeface="Algerian"/>
              <a:cs typeface="Algerian"/>
              <a:sym typeface="Algerian"/>
            </a:endParaRPr>
          </a:p>
        </p:txBody>
      </p:sp>
      <p:grpSp>
        <p:nvGrpSpPr>
          <p:cNvPr id="142" name="Google Shape;142;p27"/>
          <p:cNvGrpSpPr/>
          <p:nvPr/>
        </p:nvGrpSpPr>
        <p:grpSpPr>
          <a:xfrm>
            <a:off x="0" y="-50"/>
            <a:ext cx="9144000" cy="5143500"/>
            <a:chOff x="0" y="-50"/>
            <a:chExt cx="9144000" cy="5143500"/>
          </a:xfrm>
        </p:grpSpPr>
        <p:sp>
          <p:nvSpPr>
            <p:cNvPr id="143" name="Google Shape;143;p27"/>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44" name="Google Shape;144;p27"/>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45" name="Google Shape;145;p27"/>
            <p:cNvSpPr/>
            <p:nvPr/>
          </p:nvSpPr>
          <p:spPr>
            <a:xfrm rot="10800000">
              <a:off x="7549125" y="3527325"/>
              <a:ext cx="1586700" cy="1586700"/>
            </a:xfrm>
            <a:prstGeom prst="diagStripe">
              <a:avLst>
                <a:gd fmla="val 74882" name="adj"/>
              </a:avLst>
            </a:prstGeom>
            <a:solidFill>
              <a:srgbClr val="42146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46" name="Google Shape;146;p27"/>
            <p:cNvSpPr/>
            <p:nvPr/>
          </p:nvSpPr>
          <p:spPr>
            <a:xfrm rot="10800000">
              <a:off x="8169225" y="4147425"/>
              <a:ext cx="966600" cy="966600"/>
            </a:xfrm>
            <a:prstGeom prst="diagStripe">
              <a:avLst>
                <a:gd fmla="val 74882" name="adj"/>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47" name="Google Shape;147;p27"/>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48" name="Google Shape;148;p27"/>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49" name="Google Shape;149;p27"/>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50" name="Google Shape;150;p27"/>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151" name="Google Shape;151;p27"/>
          <p:cNvGrpSpPr/>
          <p:nvPr/>
        </p:nvGrpSpPr>
        <p:grpSpPr>
          <a:xfrm>
            <a:off x="317325" y="408125"/>
            <a:ext cx="7084200" cy="615000"/>
            <a:chOff x="317325" y="408125"/>
            <a:chExt cx="7084200" cy="615000"/>
          </a:xfrm>
        </p:grpSpPr>
        <p:sp>
          <p:nvSpPr>
            <p:cNvPr id="152" name="Google Shape;152;p27"/>
            <p:cNvSpPr/>
            <p:nvPr/>
          </p:nvSpPr>
          <p:spPr>
            <a:xfrm>
              <a:off x="317325" y="408125"/>
              <a:ext cx="70842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7"/>
            <p:cNvSpPr/>
            <p:nvPr/>
          </p:nvSpPr>
          <p:spPr>
            <a:xfrm rot="-5400000">
              <a:off x="48375" y="677075"/>
              <a:ext cx="6150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4" name="Google Shape;154;p27"/>
          <p:cNvSpPr txBox="1"/>
          <p:nvPr/>
        </p:nvSpPr>
        <p:spPr>
          <a:xfrm>
            <a:off x="0" y="1058375"/>
            <a:ext cx="7383000" cy="3342900"/>
          </a:xfrm>
          <a:prstGeom prst="rect">
            <a:avLst/>
          </a:prstGeom>
          <a:noFill/>
          <a:ln>
            <a:noFill/>
          </a:ln>
        </p:spPr>
        <p:txBody>
          <a:bodyPr anchorCtr="0" anchor="t" bIns="91425" lIns="91425" spcFirstLastPara="1" rIns="91425" wrap="square" tIns="91425">
            <a:noAutofit/>
          </a:bodyPr>
          <a:lstStyle/>
          <a:p>
            <a:pPr indent="-336550" lvl="0" marL="457200" rtl="0" algn="l">
              <a:lnSpc>
                <a:spcPct val="200000"/>
              </a:lnSpc>
              <a:spcBef>
                <a:spcPts val="0"/>
              </a:spcBef>
              <a:spcAft>
                <a:spcPts val="0"/>
              </a:spcAft>
              <a:buClr>
                <a:schemeClr val="lt2"/>
              </a:buClr>
              <a:buSzPts val="1700"/>
              <a:buChar char="-"/>
            </a:pPr>
            <a:r>
              <a:rPr lang="en" sz="1800">
                <a:solidFill>
                  <a:schemeClr val="lt2"/>
                </a:solidFill>
              </a:rPr>
              <a:t>Motivations are still the same compared to last semester.</a:t>
            </a:r>
            <a:endParaRPr sz="1800">
              <a:solidFill>
                <a:schemeClr val="lt2"/>
              </a:solidFill>
            </a:endParaRPr>
          </a:p>
          <a:p>
            <a:pPr indent="-342900" lvl="0" marL="457200" rtl="0" algn="l">
              <a:lnSpc>
                <a:spcPct val="200000"/>
              </a:lnSpc>
              <a:spcBef>
                <a:spcPts val="0"/>
              </a:spcBef>
              <a:spcAft>
                <a:spcPts val="0"/>
              </a:spcAft>
              <a:buClr>
                <a:schemeClr val="lt2"/>
              </a:buClr>
              <a:buSzPts val="1800"/>
              <a:buChar char="-"/>
            </a:pPr>
            <a:r>
              <a:rPr lang="en" sz="1800">
                <a:solidFill>
                  <a:schemeClr val="lt2"/>
                </a:solidFill>
              </a:rPr>
              <a:t>Inspired by other popular games.</a:t>
            </a:r>
            <a:endParaRPr sz="1800">
              <a:solidFill>
                <a:schemeClr val="lt2"/>
              </a:solidFill>
            </a:endParaRPr>
          </a:p>
          <a:p>
            <a:pPr indent="-342900" lvl="0" marL="457200" rtl="0" algn="l">
              <a:lnSpc>
                <a:spcPct val="200000"/>
              </a:lnSpc>
              <a:spcBef>
                <a:spcPts val="0"/>
              </a:spcBef>
              <a:spcAft>
                <a:spcPts val="0"/>
              </a:spcAft>
              <a:buClr>
                <a:schemeClr val="lt2"/>
              </a:buClr>
              <a:buSzPts val="1800"/>
              <a:buChar char="-"/>
            </a:pPr>
            <a:r>
              <a:rPr lang="en" sz="1800">
                <a:solidFill>
                  <a:schemeClr val="lt2"/>
                </a:solidFill>
              </a:rPr>
              <a:t>Wanted to give the genre a unique twist with geological elements.</a:t>
            </a:r>
            <a:endParaRPr sz="1800">
              <a:solidFill>
                <a:schemeClr val="lt2"/>
              </a:solidFill>
            </a:endParaRPr>
          </a:p>
          <a:p>
            <a:pPr indent="-342900" lvl="0" marL="457200" rtl="0" algn="l">
              <a:lnSpc>
                <a:spcPct val="200000"/>
              </a:lnSpc>
              <a:spcBef>
                <a:spcPts val="0"/>
              </a:spcBef>
              <a:spcAft>
                <a:spcPts val="0"/>
              </a:spcAft>
              <a:buClr>
                <a:schemeClr val="lt2"/>
              </a:buClr>
              <a:buSzPts val="1800"/>
              <a:buChar char="-"/>
            </a:pPr>
            <a:r>
              <a:rPr lang="en" sz="1800">
                <a:solidFill>
                  <a:schemeClr val="lt2"/>
                </a:solidFill>
              </a:rPr>
              <a:t>Make it simple for people not used to video games.</a:t>
            </a:r>
            <a:endParaRPr sz="1800">
              <a:solidFill>
                <a:schemeClr val="lt2"/>
              </a:solidFill>
            </a:endParaRPr>
          </a:p>
          <a:p>
            <a:pPr indent="0" lvl="0" marL="457200" rtl="0" algn="l">
              <a:lnSpc>
                <a:spcPct val="200000"/>
              </a:lnSpc>
              <a:spcBef>
                <a:spcPts val="0"/>
              </a:spcBef>
              <a:spcAft>
                <a:spcPts val="0"/>
              </a:spcAft>
              <a:buNone/>
            </a:pPr>
            <a:r>
              <a:t/>
            </a:r>
            <a:endParaRPr sz="2400">
              <a:solidFill>
                <a:schemeClr val="lt2"/>
              </a:solidFill>
            </a:endParaRPr>
          </a:p>
        </p:txBody>
      </p:sp>
      <p:pic>
        <p:nvPicPr>
          <p:cNvPr id="155" name="Google Shape;155;p27" title="pumpkinSpritesheet2.png"/>
          <p:cNvPicPr preferRelativeResize="0"/>
          <p:nvPr/>
        </p:nvPicPr>
        <p:blipFill rotWithShape="1">
          <a:blip r:embed="rId5">
            <a:alphaModFix/>
          </a:blip>
          <a:srcRect b="74533" l="0" r="74474" t="0"/>
          <a:stretch/>
        </p:blipFill>
        <p:spPr>
          <a:xfrm>
            <a:off x="3954175" y="3976190"/>
            <a:ext cx="1235650" cy="1309876"/>
          </a:xfrm>
          <a:prstGeom prst="rect">
            <a:avLst/>
          </a:prstGeom>
          <a:noFill/>
          <a:ln>
            <a:noFill/>
          </a:ln>
        </p:spPr>
      </p:pic>
      <p:pic>
        <p:nvPicPr>
          <p:cNvPr id="156" name="Google Shape;156;p27" title="pumpkinSpritesheet2.png"/>
          <p:cNvPicPr preferRelativeResize="0"/>
          <p:nvPr/>
        </p:nvPicPr>
        <p:blipFill rotWithShape="1">
          <a:blip r:embed="rId5">
            <a:alphaModFix/>
          </a:blip>
          <a:srcRect b="37018" l="0" r="87403" t="51846"/>
          <a:stretch/>
        </p:blipFill>
        <p:spPr>
          <a:xfrm>
            <a:off x="5264250" y="4593430"/>
            <a:ext cx="609800" cy="572699"/>
          </a:xfrm>
          <a:prstGeom prst="rect">
            <a:avLst/>
          </a:prstGeom>
          <a:noFill/>
          <a:ln>
            <a:noFill/>
          </a:ln>
        </p:spPr>
      </p:pic>
      <p:pic>
        <p:nvPicPr>
          <p:cNvPr id="157" name="Google Shape;157;p27" title="pumpkinSpritesheet2.png"/>
          <p:cNvPicPr preferRelativeResize="0"/>
          <p:nvPr/>
        </p:nvPicPr>
        <p:blipFill rotWithShape="1">
          <a:blip r:embed="rId5">
            <a:alphaModFix/>
          </a:blip>
          <a:srcRect b="-31" l="0" r="87403" t="88074"/>
          <a:stretch/>
        </p:blipFill>
        <p:spPr>
          <a:xfrm>
            <a:off x="5598876" y="4560097"/>
            <a:ext cx="609800" cy="615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61" name="Shape 161"/>
        <p:cNvGrpSpPr/>
        <p:nvPr/>
      </p:nvGrpSpPr>
      <p:grpSpPr>
        <a:xfrm>
          <a:off x="0" y="0"/>
          <a:ext cx="0" cy="0"/>
          <a:chOff x="0" y="0"/>
          <a:chExt cx="0" cy="0"/>
        </a:xfrm>
      </p:grpSpPr>
      <p:pic>
        <p:nvPicPr>
          <p:cNvPr id="162" name="Google Shape;162;p28"/>
          <p:cNvPicPr preferRelativeResize="0"/>
          <p:nvPr/>
        </p:nvPicPr>
        <p:blipFill rotWithShape="1">
          <a:blip r:embed="rId3">
            <a:alphaModFix amt="30000"/>
          </a:blip>
          <a:srcRect b="0" l="3366" r="3375" t="0"/>
          <a:stretch/>
        </p:blipFill>
        <p:spPr>
          <a:xfrm>
            <a:off x="0" y="82750"/>
            <a:ext cx="9144000" cy="4978000"/>
          </a:xfrm>
          <a:prstGeom prst="rect">
            <a:avLst/>
          </a:prstGeom>
          <a:noFill/>
          <a:ln>
            <a:noFill/>
          </a:ln>
        </p:spPr>
      </p:pic>
      <p:sp>
        <p:nvSpPr>
          <p:cNvPr id="163" name="Google Shape;163;p28"/>
          <p:cNvSpPr txBox="1"/>
          <p:nvPr>
            <p:ph type="title"/>
          </p:nvPr>
        </p:nvSpPr>
        <p:spPr>
          <a:xfrm>
            <a:off x="394425" y="445025"/>
            <a:ext cx="7007100" cy="572700"/>
          </a:xfrm>
          <a:prstGeom prst="rect">
            <a:avLst/>
          </a:prstGeom>
          <a:solidFill>
            <a:srgbClr val="42146F"/>
          </a:solidFill>
        </p:spPr>
        <p:txBody>
          <a:bodyPr anchorCtr="0" anchor="t" bIns="91425" lIns="91425" spcFirstLastPara="1" rIns="91425" wrap="square" tIns="91425">
            <a:normAutofit/>
          </a:bodyPr>
          <a:lstStyle/>
          <a:p>
            <a:pPr indent="0" lvl="0" marL="0" rtl="0" algn="ctr">
              <a:spcBef>
                <a:spcPts val="0"/>
              </a:spcBef>
              <a:spcAft>
                <a:spcPts val="0"/>
              </a:spcAft>
              <a:buNone/>
            </a:pPr>
            <a:r>
              <a:rPr lang="en" sz="2320">
                <a:solidFill>
                  <a:srgbClr val="7EB8FE"/>
                </a:solidFill>
                <a:latin typeface="Algerian"/>
                <a:ea typeface="Algerian"/>
                <a:cs typeface="Algerian"/>
                <a:sym typeface="Algerian"/>
              </a:rPr>
              <a:t>Inspired Works</a:t>
            </a:r>
            <a:endParaRPr>
              <a:latin typeface="Impact"/>
              <a:ea typeface="Impact"/>
              <a:cs typeface="Impact"/>
              <a:sym typeface="Impact"/>
            </a:endParaRPr>
          </a:p>
        </p:txBody>
      </p:sp>
      <p:sp>
        <p:nvSpPr>
          <p:cNvPr id="164" name="Google Shape;164;p28"/>
          <p:cNvSpPr txBox="1"/>
          <p:nvPr>
            <p:ph idx="1" type="body"/>
          </p:nvPr>
        </p:nvSpPr>
        <p:spPr>
          <a:xfrm>
            <a:off x="611700" y="1179125"/>
            <a:ext cx="3960300" cy="34164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a:t>Other video games such as:</a:t>
            </a:r>
            <a:endParaRPr/>
          </a:p>
          <a:p>
            <a:pPr indent="-342900" lvl="0" marL="457200" rtl="0" algn="l">
              <a:spcBef>
                <a:spcPts val="1200"/>
              </a:spcBef>
              <a:spcAft>
                <a:spcPts val="0"/>
              </a:spcAft>
              <a:buSzPts val="1800"/>
              <a:buChar char="-"/>
            </a:pPr>
            <a:r>
              <a:rPr lang="en"/>
              <a:t>Stardew Valley</a:t>
            </a:r>
            <a:endParaRPr/>
          </a:p>
          <a:p>
            <a:pPr indent="-342900" lvl="0" marL="457200" rtl="0" algn="l">
              <a:spcBef>
                <a:spcPts val="0"/>
              </a:spcBef>
              <a:spcAft>
                <a:spcPts val="0"/>
              </a:spcAft>
              <a:buSzPts val="1800"/>
              <a:buChar char="-"/>
            </a:pPr>
            <a:r>
              <a:rPr lang="en"/>
              <a:t>Hollow Knight</a:t>
            </a:r>
            <a:endParaRPr/>
          </a:p>
          <a:p>
            <a:pPr indent="-342900" lvl="0" marL="457200" rtl="0" algn="l">
              <a:spcBef>
                <a:spcPts val="0"/>
              </a:spcBef>
              <a:spcAft>
                <a:spcPts val="0"/>
              </a:spcAft>
              <a:buSzPts val="1800"/>
              <a:buChar char="-"/>
            </a:pPr>
            <a:r>
              <a:rPr lang="en"/>
              <a:t>Realm of The Mad God</a:t>
            </a:r>
            <a:endParaRPr/>
          </a:p>
        </p:txBody>
      </p:sp>
      <p:grpSp>
        <p:nvGrpSpPr>
          <p:cNvPr id="165" name="Google Shape;165;p28"/>
          <p:cNvGrpSpPr/>
          <p:nvPr/>
        </p:nvGrpSpPr>
        <p:grpSpPr>
          <a:xfrm>
            <a:off x="0" y="-50"/>
            <a:ext cx="9144000" cy="5143500"/>
            <a:chOff x="0" y="-50"/>
            <a:chExt cx="9144000" cy="5143500"/>
          </a:xfrm>
        </p:grpSpPr>
        <p:sp>
          <p:nvSpPr>
            <p:cNvPr id="166" name="Google Shape;166;p28"/>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67" name="Google Shape;167;p28"/>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68" name="Google Shape;168;p28"/>
            <p:cNvSpPr/>
            <p:nvPr/>
          </p:nvSpPr>
          <p:spPr>
            <a:xfrm rot="10800000">
              <a:off x="7549125" y="3527325"/>
              <a:ext cx="1586700" cy="1586700"/>
            </a:xfrm>
            <a:prstGeom prst="diagStripe">
              <a:avLst>
                <a:gd fmla="val 74882" name="adj"/>
              </a:avLst>
            </a:prstGeom>
            <a:solidFill>
              <a:srgbClr val="42146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69" name="Google Shape;169;p28"/>
            <p:cNvSpPr/>
            <p:nvPr/>
          </p:nvSpPr>
          <p:spPr>
            <a:xfrm rot="10800000">
              <a:off x="8169225" y="4147425"/>
              <a:ext cx="966600" cy="966600"/>
            </a:xfrm>
            <a:prstGeom prst="diagStripe">
              <a:avLst>
                <a:gd fmla="val 74882" name="adj"/>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70" name="Google Shape;170;p28"/>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71" name="Google Shape;171;p28"/>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72" name="Google Shape;172;p28"/>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73" name="Google Shape;173;p28"/>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174" name="Google Shape;174;p28"/>
          <p:cNvGrpSpPr/>
          <p:nvPr/>
        </p:nvGrpSpPr>
        <p:grpSpPr>
          <a:xfrm>
            <a:off x="317325" y="408125"/>
            <a:ext cx="7084200" cy="615000"/>
            <a:chOff x="317325" y="408125"/>
            <a:chExt cx="7084200" cy="615000"/>
          </a:xfrm>
        </p:grpSpPr>
        <p:sp>
          <p:nvSpPr>
            <p:cNvPr id="175" name="Google Shape;175;p28"/>
            <p:cNvSpPr/>
            <p:nvPr/>
          </p:nvSpPr>
          <p:spPr>
            <a:xfrm>
              <a:off x="317325" y="408125"/>
              <a:ext cx="70842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8"/>
            <p:cNvSpPr/>
            <p:nvPr/>
          </p:nvSpPr>
          <p:spPr>
            <a:xfrm rot="-5400000">
              <a:off x="48375" y="677075"/>
              <a:ext cx="6150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77" name="Google Shape;177;p28"/>
          <p:cNvPicPr preferRelativeResize="0"/>
          <p:nvPr/>
        </p:nvPicPr>
        <p:blipFill>
          <a:blip r:embed="rId4">
            <a:alphaModFix/>
          </a:blip>
          <a:stretch>
            <a:fillRect/>
          </a:stretch>
        </p:blipFill>
        <p:spPr>
          <a:xfrm>
            <a:off x="4627015" y="1126337"/>
            <a:ext cx="2245123" cy="1181651"/>
          </a:xfrm>
          <a:prstGeom prst="rect">
            <a:avLst/>
          </a:prstGeom>
          <a:noFill/>
          <a:ln cap="flat" cmpd="sng" w="38100">
            <a:solidFill>
              <a:srgbClr val="5629BC"/>
            </a:solidFill>
            <a:prstDash val="solid"/>
            <a:round/>
            <a:headEnd len="sm" w="sm" type="none"/>
            <a:tailEnd len="sm" w="sm" type="none"/>
          </a:ln>
        </p:spPr>
      </p:pic>
      <p:pic>
        <p:nvPicPr>
          <p:cNvPr id="178" name="Google Shape;178;p28"/>
          <p:cNvPicPr preferRelativeResize="0"/>
          <p:nvPr/>
        </p:nvPicPr>
        <p:blipFill>
          <a:blip r:embed="rId5">
            <a:alphaModFix/>
          </a:blip>
          <a:stretch>
            <a:fillRect/>
          </a:stretch>
        </p:blipFill>
        <p:spPr>
          <a:xfrm>
            <a:off x="5089075" y="2416600"/>
            <a:ext cx="1883700" cy="1079450"/>
          </a:xfrm>
          <a:prstGeom prst="rect">
            <a:avLst/>
          </a:prstGeom>
          <a:noFill/>
          <a:ln cap="flat" cmpd="sng" w="38100">
            <a:solidFill>
              <a:srgbClr val="5629BC"/>
            </a:solidFill>
            <a:prstDash val="solid"/>
            <a:round/>
            <a:headEnd len="sm" w="sm" type="none"/>
            <a:tailEnd len="sm" w="sm" type="none"/>
          </a:ln>
        </p:spPr>
      </p:pic>
      <p:pic>
        <p:nvPicPr>
          <p:cNvPr id="179" name="Google Shape;179;p28"/>
          <p:cNvPicPr preferRelativeResize="0"/>
          <p:nvPr/>
        </p:nvPicPr>
        <p:blipFill>
          <a:blip r:embed="rId6">
            <a:alphaModFix/>
          </a:blip>
          <a:stretch>
            <a:fillRect/>
          </a:stretch>
        </p:blipFill>
        <p:spPr>
          <a:xfrm>
            <a:off x="4526375" y="3604650"/>
            <a:ext cx="2446400" cy="1376100"/>
          </a:xfrm>
          <a:prstGeom prst="rect">
            <a:avLst/>
          </a:prstGeom>
          <a:noFill/>
          <a:ln cap="flat" cmpd="sng" w="38100">
            <a:solidFill>
              <a:srgbClr val="5629BC"/>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183" name="Shape 183"/>
        <p:cNvGrpSpPr/>
        <p:nvPr/>
      </p:nvGrpSpPr>
      <p:grpSpPr>
        <a:xfrm>
          <a:off x="0" y="0"/>
          <a:ext cx="0" cy="0"/>
          <a:chOff x="0" y="0"/>
          <a:chExt cx="0" cy="0"/>
        </a:xfrm>
      </p:grpSpPr>
      <p:pic>
        <p:nvPicPr>
          <p:cNvPr id="184" name="Google Shape;184;p29"/>
          <p:cNvPicPr preferRelativeResize="0"/>
          <p:nvPr/>
        </p:nvPicPr>
        <p:blipFill rotWithShape="1">
          <a:blip r:embed="rId3">
            <a:alphaModFix amt="30000"/>
          </a:blip>
          <a:srcRect b="0" l="6909" r="3940" t="0"/>
          <a:stretch/>
        </p:blipFill>
        <p:spPr>
          <a:xfrm>
            <a:off x="0" y="75175"/>
            <a:ext cx="9144000" cy="4993150"/>
          </a:xfrm>
          <a:prstGeom prst="rect">
            <a:avLst/>
          </a:prstGeom>
          <a:noFill/>
          <a:ln>
            <a:noFill/>
          </a:ln>
        </p:spPr>
      </p:pic>
      <p:sp>
        <p:nvSpPr>
          <p:cNvPr id="185" name="Google Shape;185;p29"/>
          <p:cNvSpPr txBox="1"/>
          <p:nvPr>
            <p:ph type="title"/>
          </p:nvPr>
        </p:nvSpPr>
        <p:spPr>
          <a:xfrm>
            <a:off x="394425" y="445025"/>
            <a:ext cx="7007100" cy="572700"/>
          </a:xfrm>
          <a:prstGeom prst="rect">
            <a:avLst/>
          </a:prstGeom>
          <a:solidFill>
            <a:srgbClr val="42146F"/>
          </a:solidFill>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solidFill>
                  <a:srgbClr val="7EB8FE"/>
                </a:solidFill>
                <a:latin typeface="Algerian"/>
                <a:ea typeface="Algerian"/>
                <a:cs typeface="Algerian"/>
                <a:sym typeface="Algerian"/>
              </a:rPr>
              <a:t>Functional Requirements Implemented</a:t>
            </a:r>
            <a:endParaRPr sz="2320">
              <a:solidFill>
                <a:srgbClr val="7EB8FE"/>
              </a:solidFill>
              <a:latin typeface="Algerian"/>
              <a:ea typeface="Algerian"/>
              <a:cs typeface="Algerian"/>
              <a:sym typeface="Algerian"/>
            </a:endParaRPr>
          </a:p>
        </p:txBody>
      </p:sp>
      <p:grpSp>
        <p:nvGrpSpPr>
          <p:cNvPr id="186" name="Google Shape;186;p29"/>
          <p:cNvGrpSpPr/>
          <p:nvPr/>
        </p:nvGrpSpPr>
        <p:grpSpPr>
          <a:xfrm>
            <a:off x="0" y="-50"/>
            <a:ext cx="9144000" cy="5143500"/>
            <a:chOff x="0" y="-50"/>
            <a:chExt cx="9144000" cy="5143500"/>
          </a:xfrm>
        </p:grpSpPr>
        <p:sp>
          <p:nvSpPr>
            <p:cNvPr id="187" name="Google Shape;187;p29"/>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88" name="Google Shape;188;p29"/>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89" name="Google Shape;189;p29"/>
            <p:cNvSpPr/>
            <p:nvPr/>
          </p:nvSpPr>
          <p:spPr>
            <a:xfrm rot="10800000">
              <a:off x="7549125" y="3527325"/>
              <a:ext cx="1586700" cy="1586700"/>
            </a:xfrm>
            <a:prstGeom prst="diagStripe">
              <a:avLst>
                <a:gd fmla="val 74882" name="adj"/>
              </a:avLst>
            </a:prstGeom>
            <a:solidFill>
              <a:srgbClr val="42146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90" name="Google Shape;190;p29"/>
            <p:cNvSpPr/>
            <p:nvPr/>
          </p:nvSpPr>
          <p:spPr>
            <a:xfrm rot="10800000">
              <a:off x="8169225" y="4147425"/>
              <a:ext cx="966600" cy="966600"/>
            </a:xfrm>
            <a:prstGeom prst="diagStripe">
              <a:avLst>
                <a:gd fmla="val 74882" name="adj"/>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91" name="Google Shape;191;p29"/>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92" name="Google Shape;192;p29"/>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93" name="Google Shape;193;p29"/>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194" name="Google Shape;194;p29"/>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195" name="Google Shape;195;p29"/>
          <p:cNvGrpSpPr/>
          <p:nvPr/>
        </p:nvGrpSpPr>
        <p:grpSpPr>
          <a:xfrm>
            <a:off x="317325" y="408125"/>
            <a:ext cx="7084200" cy="615000"/>
            <a:chOff x="317325" y="408125"/>
            <a:chExt cx="7084200" cy="615000"/>
          </a:xfrm>
        </p:grpSpPr>
        <p:sp>
          <p:nvSpPr>
            <p:cNvPr id="196" name="Google Shape;196;p29"/>
            <p:cNvSpPr/>
            <p:nvPr/>
          </p:nvSpPr>
          <p:spPr>
            <a:xfrm>
              <a:off x="317325" y="408125"/>
              <a:ext cx="70842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9"/>
            <p:cNvSpPr/>
            <p:nvPr/>
          </p:nvSpPr>
          <p:spPr>
            <a:xfrm rot="-5400000">
              <a:off x="48375" y="677075"/>
              <a:ext cx="6150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8" name="Google Shape;198;p29"/>
          <p:cNvSpPr txBox="1"/>
          <p:nvPr/>
        </p:nvSpPr>
        <p:spPr>
          <a:xfrm>
            <a:off x="317325" y="1023125"/>
            <a:ext cx="5435400" cy="3935400"/>
          </a:xfrm>
          <a:prstGeom prst="rect">
            <a:avLst/>
          </a:prstGeom>
          <a:noFill/>
          <a:ln>
            <a:noFill/>
          </a:ln>
        </p:spPr>
        <p:txBody>
          <a:bodyPr anchorCtr="0" anchor="t" bIns="91425" lIns="91425" spcFirstLastPara="1" rIns="91425" wrap="square" tIns="91425">
            <a:noAutofit/>
          </a:bodyPr>
          <a:lstStyle/>
          <a:p>
            <a:pPr indent="-311150" lvl="0" marL="457200" rtl="0" algn="l">
              <a:lnSpc>
                <a:spcPct val="200000"/>
              </a:lnSpc>
              <a:spcBef>
                <a:spcPts val="0"/>
              </a:spcBef>
              <a:spcAft>
                <a:spcPts val="0"/>
              </a:spcAft>
              <a:buClr>
                <a:srgbClr val="B7B7B7"/>
              </a:buClr>
              <a:buSzPts val="1300"/>
              <a:buChar char="-"/>
            </a:pPr>
            <a:r>
              <a:rPr lang="en">
                <a:solidFill>
                  <a:srgbClr val="B7B7B7"/>
                </a:solidFill>
              </a:rPr>
              <a:t>The game should be able to offer single-player.</a:t>
            </a:r>
            <a:endParaRPr>
              <a:solidFill>
                <a:srgbClr val="B7B7B7"/>
              </a:solidFill>
            </a:endParaRPr>
          </a:p>
          <a:p>
            <a:pPr indent="-311150" lvl="0" marL="457200" rtl="0" algn="l">
              <a:lnSpc>
                <a:spcPct val="200000"/>
              </a:lnSpc>
              <a:spcBef>
                <a:spcPts val="0"/>
              </a:spcBef>
              <a:spcAft>
                <a:spcPts val="0"/>
              </a:spcAft>
              <a:buClr>
                <a:srgbClr val="B7B7B7"/>
              </a:buClr>
              <a:buSzPts val="1300"/>
              <a:buChar char="-"/>
            </a:pPr>
            <a:r>
              <a:rPr lang="en">
                <a:solidFill>
                  <a:srgbClr val="B7B7B7"/>
                </a:solidFill>
              </a:rPr>
              <a:t>The player should be able to interact with the character using a keyboard/mouse or a controller.</a:t>
            </a:r>
            <a:endParaRPr>
              <a:solidFill>
                <a:srgbClr val="B7B7B7"/>
              </a:solidFill>
            </a:endParaRPr>
          </a:p>
          <a:p>
            <a:pPr indent="-311150" lvl="0" marL="457200" rtl="0" algn="l">
              <a:lnSpc>
                <a:spcPct val="200000"/>
              </a:lnSpc>
              <a:spcBef>
                <a:spcPts val="0"/>
              </a:spcBef>
              <a:spcAft>
                <a:spcPts val="0"/>
              </a:spcAft>
              <a:buClr>
                <a:srgbClr val="B7B7B7"/>
              </a:buClr>
              <a:buSzPts val="1300"/>
              <a:buChar char="-"/>
            </a:pPr>
            <a:r>
              <a:rPr lang="en">
                <a:solidFill>
                  <a:srgbClr val="B7B7B7"/>
                </a:solidFill>
              </a:rPr>
              <a:t>The game should allow certain UI elements such as a health bar, a hotbar, a main menu, an inventory, options for sound and graphics, as well as dialogue boxes.</a:t>
            </a:r>
            <a:endParaRPr>
              <a:solidFill>
                <a:srgbClr val="B7B7B7"/>
              </a:solidFill>
            </a:endParaRPr>
          </a:p>
          <a:p>
            <a:pPr indent="-311150" lvl="0" marL="457200" rtl="0" algn="l">
              <a:lnSpc>
                <a:spcPct val="200000"/>
              </a:lnSpc>
              <a:spcBef>
                <a:spcPts val="0"/>
              </a:spcBef>
              <a:spcAft>
                <a:spcPts val="0"/>
              </a:spcAft>
              <a:buClr>
                <a:schemeClr val="lt2"/>
              </a:buClr>
              <a:buSzPts val="1300"/>
              <a:buChar char="-"/>
            </a:pPr>
            <a:r>
              <a:rPr lang="en">
                <a:solidFill>
                  <a:schemeClr val="lt2"/>
                </a:solidFill>
              </a:rPr>
              <a:t>Player should be able mine nodes and find artifacts in levels to receive the ability to rebuild back in Ironhaven.</a:t>
            </a:r>
            <a:endParaRPr>
              <a:solidFill>
                <a:schemeClr val="lt2"/>
              </a:solidFill>
            </a:endParaRPr>
          </a:p>
          <a:p>
            <a:pPr indent="-311150" lvl="0" marL="457200" rtl="0" algn="l">
              <a:lnSpc>
                <a:spcPct val="200000"/>
              </a:lnSpc>
              <a:spcBef>
                <a:spcPts val="0"/>
              </a:spcBef>
              <a:spcAft>
                <a:spcPts val="0"/>
              </a:spcAft>
              <a:buClr>
                <a:schemeClr val="lt2"/>
              </a:buClr>
              <a:buSzPts val="1300"/>
              <a:buChar char="-"/>
            </a:pPr>
            <a:r>
              <a:rPr lang="en">
                <a:solidFill>
                  <a:schemeClr val="lt2"/>
                </a:solidFill>
              </a:rPr>
              <a:t>Game should allow progress to be saved.</a:t>
            </a:r>
            <a:endParaRPr>
              <a:solidFill>
                <a:srgbClr val="B7B7B7"/>
              </a:solidFill>
            </a:endParaRPr>
          </a:p>
        </p:txBody>
      </p:sp>
      <p:pic>
        <p:nvPicPr>
          <p:cNvPr id="199" name="Google Shape;199;p29"/>
          <p:cNvPicPr preferRelativeResize="0"/>
          <p:nvPr/>
        </p:nvPicPr>
        <p:blipFill>
          <a:blip r:embed="rId4">
            <a:alphaModFix/>
          </a:blip>
          <a:stretch>
            <a:fillRect/>
          </a:stretch>
        </p:blipFill>
        <p:spPr>
          <a:xfrm>
            <a:off x="6296097" y="1609485"/>
            <a:ext cx="1803950" cy="2432700"/>
          </a:xfrm>
          <a:prstGeom prst="rect">
            <a:avLst/>
          </a:prstGeom>
          <a:noFill/>
          <a:ln cap="flat" cmpd="sng" w="76200">
            <a:solidFill>
              <a:srgbClr val="42146F"/>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03" name="Shape 203"/>
        <p:cNvGrpSpPr/>
        <p:nvPr/>
      </p:nvGrpSpPr>
      <p:grpSpPr>
        <a:xfrm>
          <a:off x="0" y="0"/>
          <a:ext cx="0" cy="0"/>
          <a:chOff x="0" y="0"/>
          <a:chExt cx="0" cy="0"/>
        </a:xfrm>
      </p:grpSpPr>
      <p:pic>
        <p:nvPicPr>
          <p:cNvPr id="204" name="Google Shape;204;p30"/>
          <p:cNvPicPr preferRelativeResize="0"/>
          <p:nvPr/>
        </p:nvPicPr>
        <p:blipFill rotWithShape="1">
          <a:blip r:embed="rId3">
            <a:alphaModFix amt="30000"/>
          </a:blip>
          <a:srcRect b="0" l="6909" r="3940" t="0"/>
          <a:stretch/>
        </p:blipFill>
        <p:spPr>
          <a:xfrm>
            <a:off x="0" y="75175"/>
            <a:ext cx="9144000" cy="4993150"/>
          </a:xfrm>
          <a:prstGeom prst="rect">
            <a:avLst/>
          </a:prstGeom>
          <a:noFill/>
          <a:ln>
            <a:noFill/>
          </a:ln>
        </p:spPr>
      </p:pic>
      <p:pic>
        <p:nvPicPr>
          <p:cNvPr id="205" name="Google Shape;205;p30"/>
          <p:cNvPicPr preferRelativeResize="0"/>
          <p:nvPr/>
        </p:nvPicPr>
        <p:blipFill rotWithShape="1">
          <a:blip r:embed="rId4">
            <a:alphaModFix/>
          </a:blip>
          <a:srcRect b="6032" l="0" r="0" t="0"/>
          <a:stretch/>
        </p:blipFill>
        <p:spPr>
          <a:xfrm>
            <a:off x="9426175" y="1322875"/>
            <a:ext cx="3141874" cy="3820625"/>
          </a:xfrm>
          <a:prstGeom prst="rect">
            <a:avLst/>
          </a:prstGeom>
          <a:noFill/>
          <a:ln>
            <a:noFill/>
          </a:ln>
        </p:spPr>
      </p:pic>
      <p:sp>
        <p:nvSpPr>
          <p:cNvPr id="206" name="Google Shape;206;p30"/>
          <p:cNvSpPr txBox="1"/>
          <p:nvPr>
            <p:ph type="title"/>
          </p:nvPr>
        </p:nvSpPr>
        <p:spPr>
          <a:xfrm>
            <a:off x="394425" y="445025"/>
            <a:ext cx="7007100" cy="572700"/>
          </a:xfrm>
          <a:prstGeom prst="rect">
            <a:avLst/>
          </a:prstGeom>
          <a:solidFill>
            <a:srgbClr val="42146F"/>
          </a:solidFill>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solidFill>
                  <a:srgbClr val="7EB8FE"/>
                </a:solidFill>
                <a:latin typeface="Algerian"/>
                <a:ea typeface="Algerian"/>
                <a:cs typeface="Algerian"/>
                <a:sym typeface="Algerian"/>
              </a:rPr>
              <a:t>Functional Requirements In Progress</a:t>
            </a:r>
            <a:endParaRPr sz="2320">
              <a:solidFill>
                <a:srgbClr val="7EB8FE"/>
              </a:solidFill>
              <a:latin typeface="Algerian"/>
              <a:ea typeface="Algerian"/>
              <a:cs typeface="Algerian"/>
              <a:sym typeface="Algerian"/>
            </a:endParaRPr>
          </a:p>
        </p:txBody>
      </p:sp>
      <p:grpSp>
        <p:nvGrpSpPr>
          <p:cNvPr id="207" name="Google Shape;207;p30"/>
          <p:cNvGrpSpPr/>
          <p:nvPr/>
        </p:nvGrpSpPr>
        <p:grpSpPr>
          <a:xfrm>
            <a:off x="0" y="0"/>
            <a:ext cx="9144000" cy="5143500"/>
            <a:chOff x="0" y="-50"/>
            <a:chExt cx="9144000" cy="5143500"/>
          </a:xfrm>
        </p:grpSpPr>
        <p:sp>
          <p:nvSpPr>
            <p:cNvPr id="208" name="Google Shape;208;p30"/>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09" name="Google Shape;209;p30"/>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10" name="Google Shape;210;p30"/>
            <p:cNvSpPr/>
            <p:nvPr/>
          </p:nvSpPr>
          <p:spPr>
            <a:xfrm rot="10800000">
              <a:off x="7549125" y="3527325"/>
              <a:ext cx="1586700" cy="1586700"/>
            </a:xfrm>
            <a:prstGeom prst="diagStripe">
              <a:avLst>
                <a:gd fmla="val 74882" name="adj"/>
              </a:avLst>
            </a:prstGeom>
            <a:solidFill>
              <a:srgbClr val="42146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11" name="Google Shape;211;p30"/>
            <p:cNvSpPr/>
            <p:nvPr/>
          </p:nvSpPr>
          <p:spPr>
            <a:xfrm rot="10800000">
              <a:off x="8169225" y="4147425"/>
              <a:ext cx="966600" cy="966600"/>
            </a:xfrm>
            <a:prstGeom prst="diagStripe">
              <a:avLst>
                <a:gd fmla="val 74882" name="adj"/>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12" name="Google Shape;212;p30"/>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13" name="Google Shape;213;p30"/>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14" name="Google Shape;214;p30"/>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15" name="Google Shape;215;p30"/>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216" name="Google Shape;216;p30"/>
          <p:cNvGrpSpPr/>
          <p:nvPr/>
        </p:nvGrpSpPr>
        <p:grpSpPr>
          <a:xfrm>
            <a:off x="317325" y="408125"/>
            <a:ext cx="7084200" cy="615000"/>
            <a:chOff x="317325" y="408125"/>
            <a:chExt cx="7084200" cy="615000"/>
          </a:xfrm>
        </p:grpSpPr>
        <p:sp>
          <p:nvSpPr>
            <p:cNvPr id="217" name="Google Shape;217;p30"/>
            <p:cNvSpPr/>
            <p:nvPr/>
          </p:nvSpPr>
          <p:spPr>
            <a:xfrm>
              <a:off x="317325" y="408125"/>
              <a:ext cx="70842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30"/>
            <p:cNvSpPr/>
            <p:nvPr/>
          </p:nvSpPr>
          <p:spPr>
            <a:xfrm rot="-5400000">
              <a:off x="48375" y="677075"/>
              <a:ext cx="6150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9" name="Google Shape;219;p30"/>
          <p:cNvSpPr txBox="1"/>
          <p:nvPr/>
        </p:nvSpPr>
        <p:spPr>
          <a:xfrm>
            <a:off x="0" y="1476350"/>
            <a:ext cx="4708200" cy="2709000"/>
          </a:xfrm>
          <a:prstGeom prst="rect">
            <a:avLst/>
          </a:prstGeom>
          <a:noFill/>
          <a:ln>
            <a:noFill/>
          </a:ln>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Clr>
                <a:schemeClr val="lt2"/>
              </a:buClr>
              <a:buSzPts val="1800"/>
              <a:buChar char="-"/>
            </a:pPr>
            <a:r>
              <a:rPr lang="en" sz="1800">
                <a:solidFill>
                  <a:schemeClr val="lt2"/>
                </a:solidFill>
              </a:rPr>
              <a:t>The p</a:t>
            </a:r>
            <a:r>
              <a:rPr lang="en" sz="1800">
                <a:solidFill>
                  <a:schemeClr val="lt2"/>
                </a:solidFill>
              </a:rPr>
              <a:t>layer should have the ability to upgrade equipment back in Ironhaven once requirements are met.</a:t>
            </a:r>
            <a:endParaRPr sz="1800">
              <a:solidFill>
                <a:schemeClr val="lt2"/>
              </a:solidFill>
            </a:endParaRPr>
          </a:p>
          <a:p>
            <a:pPr indent="-342900" lvl="0" marL="457200" rtl="0" algn="l">
              <a:lnSpc>
                <a:spcPct val="200000"/>
              </a:lnSpc>
              <a:spcBef>
                <a:spcPts val="0"/>
              </a:spcBef>
              <a:spcAft>
                <a:spcPts val="0"/>
              </a:spcAft>
              <a:buClr>
                <a:schemeClr val="lt2"/>
              </a:buClr>
              <a:buSzPts val="1800"/>
              <a:buChar char="-"/>
            </a:pPr>
            <a:r>
              <a:rPr lang="en" sz="1800">
                <a:solidFill>
                  <a:schemeClr val="lt2"/>
                </a:solidFill>
              </a:rPr>
              <a:t>The player should have a variety of different solutions to counter enemies (melee, magic, ranged).</a:t>
            </a:r>
            <a:endParaRPr sz="1800">
              <a:solidFill>
                <a:schemeClr val="lt2"/>
              </a:solidFill>
            </a:endParaRPr>
          </a:p>
          <a:p>
            <a:pPr indent="0" lvl="0" marL="457200" rtl="0" algn="l">
              <a:lnSpc>
                <a:spcPct val="200000"/>
              </a:lnSpc>
              <a:spcBef>
                <a:spcPts val="0"/>
              </a:spcBef>
              <a:spcAft>
                <a:spcPts val="0"/>
              </a:spcAft>
              <a:buNone/>
            </a:pPr>
            <a:r>
              <a:t/>
            </a:r>
            <a:endParaRPr sz="1800">
              <a:solidFill>
                <a:srgbClr val="B7B7B7"/>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23" name="Shape 223"/>
        <p:cNvGrpSpPr/>
        <p:nvPr/>
      </p:nvGrpSpPr>
      <p:grpSpPr>
        <a:xfrm>
          <a:off x="0" y="0"/>
          <a:ext cx="0" cy="0"/>
          <a:chOff x="0" y="0"/>
          <a:chExt cx="0" cy="0"/>
        </a:xfrm>
      </p:grpSpPr>
      <p:pic>
        <p:nvPicPr>
          <p:cNvPr id="224" name="Google Shape;224;p31"/>
          <p:cNvPicPr preferRelativeResize="0"/>
          <p:nvPr/>
        </p:nvPicPr>
        <p:blipFill rotWithShape="1">
          <a:blip r:embed="rId3">
            <a:alphaModFix amt="30000"/>
          </a:blip>
          <a:srcRect b="0" l="6909" r="3940" t="0"/>
          <a:stretch/>
        </p:blipFill>
        <p:spPr>
          <a:xfrm>
            <a:off x="0" y="75175"/>
            <a:ext cx="9144000" cy="4993150"/>
          </a:xfrm>
          <a:prstGeom prst="rect">
            <a:avLst/>
          </a:prstGeom>
          <a:noFill/>
          <a:ln>
            <a:noFill/>
          </a:ln>
        </p:spPr>
      </p:pic>
      <p:sp>
        <p:nvSpPr>
          <p:cNvPr id="225" name="Google Shape;225;p31"/>
          <p:cNvSpPr txBox="1"/>
          <p:nvPr>
            <p:ph type="title"/>
          </p:nvPr>
        </p:nvSpPr>
        <p:spPr>
          <a:xfrm>
            <a:off x="394425" y="445025"/>
            <a:ext cx="7007100" cy="572700"/>
          </a:xfrm>
          <a:prstGeom prst="rect">
            <a:avLst/>
          </a:prstGeom>
          <a:solidFill>
            <a:srgbClr val="42146F"/>
          </a:solidFill>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solidFill>
                  <a:srgbClr val="7EB8FE"/>
                </a:solidFill>
                <a:latin typeface="Algerian"/>
                <a:ea typeface="Algerian"/>
                <a:cs typeface="Algerian"/>
                <a:sym typeface="Algerian"/>
              </a:rPr>
              <a:t>Non-Functional Requirements Implemented</a:t>
            </a:r>
            <a:endParaRPr sz="2320">
              <a:solidFill>
                <a:srgbClr val="7EB8FE"/>
              </a:solidFill>
              <a:latin typeface="Algerian"/>
              <a:ea typeface="Algerian"/>
              <a:cs typeface="Algerian"/>
              <a:sym typeface="Algerian"/>
            </a:endParaRPr>
          </a:p>
        </p:txBody>
      </p:sp>
      <p:grpSp>
        <p:nvGrpSpPr>
          <p:cNvPr id="226" name="Google Shape;226;p31"/>
          <p:cNvGrpSpPr/>
          <p:nvPr/>
        </p:nvGrpSpPr>
        <p:grpSpPr>
          <a:xfrm>
            <a:off x="0" y="-50"/>
            <a:ext cx="9144000" cy="5143500"/>
            <a:chOff x="0" y="-50"/>
            <a:chExt cx="9144000" cy="5143500"/>
          </a:xfrm>
        </p:grpSpPr>
        <p:sp>
          <p:nvSpPr>
            <p:cNvPr id="227" name="Google Shape;227;p31"/>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28" name="Google Shape;228;p31"/>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29" name="Google Shape;229;p31"/>
            <p:cNvSpPr/>
            <p:nvPr/>
          </p:nvSpPr>
          <p:spPr>
            <a:xfrm rot="10800000">
              <a:off x="7549125" y="3527325"/>
              <a:ext cx="1586700" cy="1586700"/>
            </a:xfrm>
            <a:prstGeom prst="diagStripe">
              <a:avLst>
                <a:gd fmla="val 74882" name="adj"/>
              </a:avLst>
            </a:prstGeom>
            <a:solidFill>
              <a:srgbClr val="42146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30" name="Google Shape;230;p31"/>
            <p:cNvSpPr/>
            <p:nvPr/>
          </p:nvSpPr>
          <p:spPr>
            <a:xfrm rot="10800000">
              <a:off x="8169225" y="4147425"/>
              <a:ext cx="966600" cy="966600"/>
            </a:xfrm>
            <a:prstGeom prst="diagStripe">
              <a:avLst>
                <a:gd fmla="val 74882" name="adj"/>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31" name="Google Shape;231;p31"/>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32" name="Google Shape;232;p31"/>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33" name="Google Shape;233;p31"/>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34" name="Google Shape;234;p31"/>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235" name="Google Shape;235;p31"/>
          <p:cNvGrpSpPr/>
          <p:nvPr/>
        </p:nvGrpSpPr>
        <p:grpSpPr>
          <a:xfrm>
            <a:off x="317325" y="408125"/>
            <a:ext cx="7084200" cy="615000"/>
            <a:chOff x="317325" y="408125"/>
            <a:chExt cx="7084200" cy="615000"/>
          </a:xfrm>
        </p:grpSpPr>
        <p:sp>
          <p:nvSpPr>
            <p:cNvPr id="236" name="Google Shape;236;p31"/>
            <p:cNvSpPr/>
            <p:nvPr/>
          </p:nvSpPr>
          <p:spPr>
            <a:xfrm>
              <a:off x="317325" y="408125"/>
              <a:ext cx="70842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31"/>
            <p:cNvSpPr/>
            <p:nvPr/>
          </p:nvSpPr>
          <p:spPr>
            <a:xfrm rot="-5400000">
              <a:off x="48375" y="677075"/>
              <a:ext cx="6150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8" name="Google Shape;238;p31"/>
          <p:cNvSpPr txBox="1"/>
          <p:nvPr/>
        </p:nvSpPr>
        <p:spPr>
          <a:xfrm>
            <a:off x="0" y="1462275"/>
            <a:ext cx="5492100" cy="2610000"/>
          </a:xfrm>
          <a:prstGeom prst="rect">
            <a:avLst/>
          </a:prstGeom>
          <a:noFill/>
          <a:ln>
            <a:noFill/>
          </a:ln>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Clr>
                <a:schemeClr val="lt2"/>
              </a:buClr>
              <a:buSzPts val="1800"/>
              <a:buChar char="-"/>
            </a:pPr>
            <a:r>
              <a:rPr lang="en" sz="1800">
                <a:solidFill>
                  <a:schemeClr val="lt2"/>
                </a:solidFill>
              </a:rPr>
              <a:t>UI should be simple and intuitive to navigate.</a:t>
            </a:r>
            <a:endParaRPr sz="2400">
              <a:solidFill>
                <a:schemeClr val="lt2"/>
              </a:solidFill>
            </a:endParaRPr>
          </a:p>
        </p:txBody>
      </p:sp>
      <p:pic>
        <p:nvPicPr>
          <p:cNvPr id="239" name="Google Shape;239;p31"/>
          <p:cNvPicPr preferRelativeResize="0"/>
          <p:nvPr/>
        </p:nvPicPr>
        <p:blipFill rotWithShape="1">
          <a:blip r:embed="rId4">
            <a:alphaModFix/>
          </a:blip>
          <a:srcRect b="47109" l="25548" r="31120" t="11807"/>
          <a:stretch/>
        </p:blipFill>
        <p:spPr>
          <a:xfrm flipH="1">
            <a:off x="5668250" y="1244288"/>
            <a:ext cx="2482525" cy="3045974"/>
          </a:xfrm>
          <a:prstGeom prst="rect">
            <a:avLst/>
          </a:prstGeom>
          <a:noFill/>
          <a:ln cap="flat" cmpd="sng" w="38100">
            <a:solidFill>
              <a:srgbClr val="42146F"/>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2"/>
        </a:solidFill>
      </p:bgPr>
    </p:bg>
    <p:spTree>
      <p:nvGrpSpPr>
        <p:cNvPr id="243" name="Shape 243"/>
        <p:cNvGrpSpPr/>
        <p:nvPr/>
      </p:nvGrpSpPr>
      <p:grpSpPr>
        <a:xfrm>
          <a:off x="0" y="0"/>
          <a:ext cx="0" cy="0"/>
          <a:chOff x="0" y="0"/>
          <a:chExt cx="0" cy="0"/>
        </a:xfrm>
      </p:grpSpPr>
      <p:pic>
        <p:nvPicPr>
          <p:cNvPr id="244" name="Google Shape;244;p32"/>
          <p:cNvPicPr preferRelativeResize="0"/>
          <p:nvPr/>
        </p:nvPicPr>
        <p:blipFill rotWithShape="1">
          <a:blip r:embed="rId3">
            <a:alphaModFix amt="30000"/>
          </a:blip>
          <a:srcRect b="0" l="6909" r="3940" t="0"/>
          <a:stretch/>
        </p:blipFill>
        <p:spPr>
          <a:xfrm>
            <a:off x="0" y="75175"/>
            <a:ext cx="9144000" cy="4993150"/>
          </a:xfrm>
          <a:prstGeom prst="rect">
            <a:avLst/>
          </a:prstGeom>
          <a:noFill/>
          <a:ln>
            <a:noFill/>
          </a:ln>
        </p:spPr>
      </p:pic>
      <p:sp>
        <p:nvSpPr>
          <p:cNvPr id="245" name="Google Shape;245;p32"/>
          <p:cNvSpPr txBox="1"/>
          <p:nvPr>
            <p:ph type="title"/>
          </p:nvPr>
        </p:nvSpPr>
        <p:spPr>
          <a:xfrm>
            <a:off x="394425" y="445025"/>
            <a:ext cx="7007100" cy="572700"/>
          </a:xfrm>
          <a:prstGeom prst="rect">
            <a:avLst/>
          </a:prstGeom>
          <a:solidFill>
            <a:srgbClr val="42146F"/>
          </a:solidFill>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solidFill>
                  <a:srgbClr val="7EB8FE"/>
                </a:solidFill>
                <a:latin typeface="Algerian"/>
                <a:ea typeface="Algerian"/>
                <a:cs typeface="Algerian"/>
                <a:sym typeface="Algerian"/>
              </a:rPr>
              <a:t>Non-Functional Requirements in progress</a:t>
            </a:r>
            <a:endParaRPr sz="2320">
              <a:solidFill>
                <a:srgbClr val="7EB8FE"/>
              </a:solidFill>
              <a:latin typeface="Algerian"/>
              <a:ea typeface="Algerian"/>
              <a:cs typeface="Algerian"/>
              <a:sym typeface="Algerian"/>
            </a:endParaRPr>
          </a:p>
        </p:txBody>
      </p:sp>
      <p:grpSp>
        <p:nvGrpSpPr>
          <p:cNvPr id="246" name="Google Shape;246;p32"/>
          <p:cNvGrpSpPr/>
          <p:nvPr/>
        </p:nvGrpSpPr>
        <p:grpSpPr>
          <a:xfrm>
            <a:off x="0" y="-50"/>
            <a:ext cx="9144000" cy="5143500"/>
            <a:chOff x="0" y="-50"/>
            <a:chExt cx="9144000" cy="5143500"/>
          </a:xfrm>
        </p:grpSpPr>
        <p:sp>
          <p:nvSpPr>
            <p:cNvPr id="247" name="Google Shape;247;p32"/>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48" name="Google Shape;248;p32"/>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49" name="Google Shape;249;p32"/>
            <p:cNvSpPr/>
            <p:nvPr/>
          </p:nvSpPr>
          <p:spPr>
            <a:xfrm rot="10800000">
              <a:off x="7549125" y="3527325"/>
              <a:ext cx="1586700" cy="1586700"/>
            </a:xfrm>
            <a:prstGeom prst="diagStripe">
              <a:avLst>
                <a:gd fmla="val 74882" name="adj"/>
              </a:avLst>
            </a:prstGeom>
            <a:solidFill>
              <a:srgbClr val="42146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50" name="Google Shape;250;p32"/>
            <p:cNvSpPr/>
            <p:nvPr/>
          </p:nvSpPr>
          <p:spPr>
            <a:xfrm rot="10800000">
              <a:off x="8169225" y="4147425"/>
              <a:ext cx="966600" cy="966600"/>
            </a:xfrm>
            <a:prstGeom prst="diagStripe">
              <a:avLst>
                <a:gd fmla="val 74882" name="adj"/>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51" name="Google Shape;251;p32"/>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52" name="Google Shape;252;p32"/>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53" name="Google Shape;253;p32"/>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54" name="Google Shape;254;p32"/>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255" name="Google Shape;255;p32"/>
          <p:cNvGrpSpPr/>
          <p:nvPr/>
        </p:nvGrpSpPr>
        <p:grpSpPr>
          <a:xfrm>
            <a:off x="317325" y="408125"/>
            <a:ext cx="7084200" cy="615000"/>
            <a:chOff x="317325" y="408125"/>
            <a:chExt cx="7084200" cy="615000"/>
          </a:xfrm>
        </p:grpSpPr>
        <p:sp>
          <p:nvSpPr>
            <p:cNvPr id="256" name="Google Shape;256;p32"/>
            <p:cNvSpPr/>
            <p:nvPr/>
          </p:nvSpPr>
          <p:spPr>
            <a:xfrm>
              <a:off x="317325" y="408125"/>
              <a:ext cx="70842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 name="Google Shape;257;p32"/>
            <p:cNvSpPr/>
            <p:nvPr/>
          </p:nvSpPr>
          <p:spPr>
            <a:xfrm rot="-5400000">
              <a:off x="48375" y="677075"/>
              <a:ext cx="615000" cy="77100"/>
            </a:xfrm>
            <a:prstGeom prst="rect">
              <a:avLst/>
            </a:prstGeom>
            <a:solidFill>
              <a:srgbClr val="5629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58" name="Google Shape;258;p32" title="pumpkinSpritesheet2.png"/>
          <p:cNvPicPr preferRelativeResize="0"/>
          <p:nvPr/>
        </p:nvPicPr>
        <p:blipFill rotWithShape="1">
          <a:blip r:embed="rId4">
            <a:alphaModFix/>
          </a:blip>
          <a:srcRect b="74533" l="0" r="74474" t="0"/>
          <a:stretch/>
        </p:blipFill>
        <p:spPr>
          <a:xfrm>
            <a:off x="3954175" y="3976190"/>
            <a:ext cx="1235650" cy="1309876"/>
          </a:xfrm>
          <a:prstGeom prst="rect">
            <a:avLst/>
          </a:prstGeom>
          <a:noFill/>
          <a:ln>
            <a:noFill/>
          </a:ln>
        </p:spPr>
      </p:pic>
      <p:sp>
        <p:nvSpPr>
          <p:cNvPr id="259" name="Google Shape;259;p32"/>
          <p:cNvSpPr txBox="1"/>
          <p:nvPr/>
        </p:nvSpPr>
        <p:spPr>
          <a:xfrm>
            <a:off x="0" y="1058375"/>
            <a:ext cx="7383000" cy="3342900"/>
          </a:xfrm>
          <a:prstGeom prst="rect">
            <a:avLst/>
          </a:prstGeom>
          <a:noFill/>
          <a:ln>
            <a:noFill/>
          </a:ln>
        </p:spPr>
        <p:txBody>
          <a:bodyPr anchorCtr="0" anchor="t" bIns="91425" lIns="91425" spcFirstLastPara="1" rIns="91425" wrap="square" tIns="91425">
            <a:noAutofit/>
          </a:bodyPr>
          <a:lstStyle/>
          <a:p>
            <a:pPr indent="-298450" lvl="0" marL="457200" rtl="0" algn="l">
              <a:lnSpc>
                <a:spcPct val="200000"/>
              </a:lnSpc>
              <a:spcBef>
                <a:spcPts val="0"/>
              </a:spcBef>
              <a:spcAft>
                <a:spcPts val="0"/>
              </a:spcAft>
              <a:buClr>
                <a:schemeClr val="lt2"/>
              </a:buClr>
              <a:buSzPts val="1100"/>
              <a:buChar char="-"/>
            </a:pPr>
            <a:r>
              <a:rPr lang="en" sz="1200">
                <a:solidFill>
                  <a:schemeClr val="lt2"/>
                </a:solidFill>
              </a:rPr>
              <a:t>The game should be able to perform on low-end pcs.</a:t>
            </a:r>
            <a:endParaRPr sz="1200">
              <a:solidFill>
                <a:schemeClr val="lt2"/>
              </a:solidFill>
            </a:endParaRPr>
          </a:p>
          <a:p>
            <a:pPr indent="-298450" lvl="0" marL="457200" rtl="0" algn="l">
              <a:lnSpc>
                <a:spcPct val="200000"/>
              </a:lnSpc>
              <a:spcBef>
                <a:spcPts val="0"/>
              </a:spcBef>
              <a:spcAft>
                <a:spcPts val="0"/>
              </a:spcAft>
              <a:buClr>
                <a:schemeClr val="lt2"/>
              </a:buClr>
              <a:buSzPts val="1100"/>
              <a:buChar char="-"/>
            </a:pPr>
            <a:r>
              <a:rPr lang="en" sz="1200">
                <a:solidFill>
                  <a:schemeClr val="lt2"/>
                </a:solidFill>
              </a:rPr>
              <a:t>Should be compatible with Windows.</a:t>
            </a:r>
            <a:endParaRPr sz="1200">
              <a:solidFill>
                <a:schemeClr val="lt2"/>
              </a:solidFill>
            </a:endParaRPr>
          </a:p>
          <a:p>
            <a:pPr indent="-298450" lvl="0" marL="457200" rtl="0" algn="l">
              <a:lnSpc>
                <a:spcPct val="200000"/>
              </a:lnSpc>
              <a:spcBef>
                <a:spcPts val="0"/>
              </a:spcBef>
              <a:spcAft>
                <a:spcPts val="0"/>
              </a:spcAft>
              <a:buClr>
                <a:schemeClr val="lt2"/>
              </a:buClr>
              <a:buSzPts val="1100"/>
              <a:buChar char="-"/>
            </a:pPr>
            <a:r>
              <a:rPr lang="en" sz="1200">
                <a:solidFill>
                  <a:schemeClr val="lt2"/>
                </a:solidFill>
              </a:rPr>
              <a:t>Game should be able to run on a higher frame rate average (60).</a:t>
            </a:r>
            <a:endParaRPr sz="1200">
              <a:solidFill>
                <a:schemeClr val="lt2"/>
              </a:solidFill>
            </a:endParaRPr>
          </a:p>
          <a:p>
            <a:pPr indent="-298450" lvl="0" marL="457200" rtl="0" algn="l">
              <a:lnSpc>
                <a:spcPct val="200000"/>
              </a:lnSpc>
              <a:spcBef>
                <a:spcPts val="0"/>
              </a:spcBef>
              <a:spcAft>
                <a:spcPts val="0"/>
              </a:spcAft>
              <a:buClr>
                <a:schemeClr val="lt2"/>
              </a:buClr>
              <a:buSzPts val="1100"/>
              <a:buChar char="-"/>
            </a:pPr>
            <a:r>
              <a:rPr lang="en" sz="1200">
                <a:solidFill>
                  <a:schemeClr val="lt2"/>
                </a:solidFill>
              </a:rPr>
              <a:t>Game should have achievements in-game.</a:t>
            </a:r>
            <a:endParaRPr sz="1200">
              <a:solidFill>
                <a:schemeClr val="lt2"/>
              </a:solidFill>
            </a:endParaRPr>
          </a:p>
          <a:p>
            <a:pPr indent="-298450" lvl="0" marL="457200" rtl="0" algn="l">
              <a:lnSpc>
                <a:spcPct val="200000"/>
              </a:lnSpc>
              <a:spcBef>
                <a:spcPts val="0"/>
              </a:spcBef>
              <a:spcAft>
                <a:spcPts val="0"/>
              </a:spcAft>
              <a:buClr>
                <a:schemeClr val="lt2"/>
              </a:buClr>
              <a:buSzPts val="1100"/>
              <a:buChar char="-"/>
            </a:pPr>
            <a:r>
              <a:rPr lang="en" sz="1200">
                <a:solidFill>
                  <a:schemeClr val="lt2"/>
                </a:solidFill>
              </a:rPr>
              <a:t>Game should have a system where they can only hold a certain amount of a material in their inventories to prevent exceeding progress in their present state.</a:t>
            </a:r>
            <a:endParaRPr sz="1200">
              <a:solidFill>
                <a:schemeClr val="lt2"/>
              </a:solidFill>
            </a:endParaRPr>
          </a:p>
          <a:p>
            <a:pPr indent="-304800" lvl="0" marL="457200" rtl="0" algn="l">
              <a:lnSpc>
                <a:spcPct val="200000"/>
              </a:lnSpc>
              <a:spcBef>
                <a:spcPts val="0"/>
              </a:spcBef>
              <a:spcAft>
                <a:spcPts val="0"/>
              </a:spcAft>
              <a:buClr>
                <a:schemeClr val="lt2"/>
              </a:buClr>
              <a:buSzPts val="1200"/>
              <a:buChar char="-"/>
            </a:pPr>
            <a:r>
              <a:rPr lang="en" sz="1200">
                <a:solidFill>
                  <a:schemeClr val="lt2"/>
                </a:solidFill>
              </a:rPr>
              <a:t>The game should be able to run on low-end PCs like laptops with 8GB of RAM.</a:t>
            </a:r>
            <a:endParaRPr sz="1200">
              <a:solidFill>
                <a:schemeClr val="lt2"/>
              </a:solidFill>
            </a:endParaRPr>
          </a:p>
          <a:p>
            <a:pPr indent="0" lvl="0" marL="0" rtl="0" algn="l">
              <a:lnSpc>
                <a:spcPct val="200000"/>
              </a:lnSpc>
              <a:spcBef>
                <a:spcPts val="0"/>
              </a:spcBef>
              <a:spcAft>
                <a:spcPts val="0"/>
              </a:spcAft>
              <a:buNone/>
            </a:pPr>
            <a:r>
              <a:t/>
            </a:r>
            <a:endParaRPr sz="1200">
              <a:solidFill>
                <a:schemeClr val="lt2"/>
              </a:solidFill>
            </a:endParaRPr>
          </a:p>
        </p:txBody>
      </p:sp>
      <p:pic>
        <p:nvPicPr>
          <p:cNvPr id="260" name="Google Shape;260;p32" title="pumpkinSpritesheet2.png"/>
          <p:cNvPicPr preferRelativeResize="0"/>
          <p:nvPr/>
        </p:nvPicPr>
        <p:blipFill rotWithShape="1">
          <a:blip r:embed="rId4">
            <a:alphaModFix/>
          </a:blip>
          <a:srcRect b="37018" l="0" r="87403" t="51846"/>
          <a:stretch/>
        </p:blipFill>
        <p:spPr>
          <a:xfrm>
            <a:off x="5264250" y="4593430"/>
            <a:ext cx="609800" cy="572699"/>
          </a:xfrm>
          <a:prstGeom prst="rect">
            <a:avLst/>
          </a:prstGeom>
          <a:noFill/>
          <a:ln>
            <a:noFill/>
          </a:ln>
        </p:spPr>
      </p:pic>
      <p:pic>
        <p:nvPicPr>
          <p:cNvPr id="261" name="Google Shape;261;p32" title="pumpkinSpritesheet2.png"/>
          <p:cNvPicPr preferRelativeResize="0"/>
          <p:nvPr/>
        </p:nvPicPr>
        <p:blipFill rotWithShape="1">
          <a:blip r:embed="rId4">
            <a:alphaModFix/>
          </a:blip>
          <a:srcRect b="-31" l="0" r="87403" t="88074"/>
          <a:stretch/>
        </p:blipFill>
        <p:spPr>
          <a:xfrm>
            <a:off x="5598876" y="4560097"/>
            <a:ext cx="609800" cy="61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65" name="Shape 265"/>
        <p:cNvGrpSpPr/>
        <p:nvPr/>
      </p:nvGrpSpPr>
      <p:grpSpPr>
        <a:xfrm>
          <a:off x="0" y="0"/>
          <a:ext cx="0" cy="0"/>
          <a:chOff x="0" y="0"/>
          <a:chExt cx="0" cy="0"/>
        </a:xfrm>
      </p:grpSpPr>
      <p:pic>
        <p:nvPicPr>
          <p:cNvPr id="266" name="Google Shape;266;p33"/>
          <p:cNvPicPr preferRelativeResize="0"/>
          <p:nvPr/>
        </p:nvPicPr>
        <p:blipFill>
          <a:blip r:embed="rId3">
            <a:alphaModFix amt="30000"/>
          </a:blip>
          <a:stretch>
            <a:fillRect/>
          </a:stretch>
        </p:blipFill>
        <p:spPr>
          <a:xfrm>
            <a:off x="0" y="39314"/>
            <a:ext cx="9144002" cy="5064873"/>
          </a:xfrm>
          <a:prstGeom prst="rect">
            <a:avLst/>
          </a:prstGeom>
          <a:noFill/>
          <a:ln>
            <a:noFill/>
          </a:ln>
        </p:spPr>
      </p:pic>
      <p:sp>
        <p:nvSpPr>
          <p:cNvPr id="267" name="Google Shape;267;p33"/>
          <p:cNvSpPr txBox="1"/>
          <p:nvPr>
            <p:ph type="title"/>
          </p:nvPr>
        </p:nvSpPr>
        <p:spPr>
          <a:xfrm>
            <a:off x="394425" y="445025"/>
            <a:ext cx="7007100" cy="572700"/>
          </a:xfrm>
          <a:prstGeom prst="rect">
            <a:avLst/>
          </a:prstGeom>
          <a:solidFill>
            <a:srgbClr val="783F04"/>
          </a:solidFill>
        </p:spPr>
        <p:txBody>
          <a:bodyPr anchorCtr="0" anchor="t" bIns="91425" lIns="91425" spcFirstLastPara="1" rIns="91425" wrap="square" tIns="91425">
            <a:normAutofit/>
          </a:bodyPr>
          <a:lstStyle/>
          <a:p>
            <a:pPr indent="0" lvl="0" marL="0" rtl="0" algn="ctr">
              <a:spcBef>
                <a:spcPts val="0"/>
              </a:spcBef>
              <a:spcAft>
                <a:spcPts val="0"/>
              </a:spcAft>
              <a:buNone/>
            </a:pPr>
            <a:r>
              <a:rPr lang="en" sz="2320">
                <a:solidFill>
                  <a:srgbClr val="7EB8FE"/>
                </a:solidFill>
                <a:latin typeface="Algerian"/>
                <a:ea typeface="Algerian"/>
                <a:cs typeface="Algerian"/>
                <a:sym typeface="Algerian"/>
              </a:rPr>
              <a:t>Technical Content</a:t>
            </a:r>
            <a:endParaRPr>
              <a:latin typeface="Impact"/>
              <a:ea typeface="Impact"/>
              <a:cs typeface="Impact"/>
              <a:sym typeface="Impact"/>
            </a:endParaRPr>
          </a:p>
        </p:txBody>
      </p:sp>
      <p:sp>
        <p:nvSpPr>
          <p:cNvPr id="268" name="Google Shape;268;p33"/>
          <p:cNvSpPr txBox="1"/>
          <p:nvPr>
            <p:ph idx="1" type="body"/>
          </p:nvPr>
        </p:nvSpPr>
        <p:spPr>
          <a:xfrm>
            <a:off x="664775" y="1152475"/>
            <a:ext cx="7867500" cy="3416400"/>
          </a:xfrm>
          <a:prstGeom prst="rect">
            <a:avLst/>
          </a:prstGeom>
          <a:ln>
            <a:noFill/>
          </a:ln>
        </p:spPr>
        <p:txBody>
          <a:bodyPr anchorCtr="0" anchor="t" bIns="91425" lIns="91425" spcFirstLastPara="1" rIns="91425" wrap="square" tIns="91425">
            <a:normAutofit/>
          </a:bodyPr>
          <a:lstStyle/>
          <a:p>
            <a:pPr indent="-342900" lvl="0" marL="457200" marR="0" rtl="0" algn="l">
              <a:lnSpc>
                <a:spcPct val="200000"/>
              </a:lnSpc>
              <a:spcBef>
                <a:spcPts val="0"/>
              </a:spcBef>
              <a:spcAft>
                <a:spcPts val="0"/>
              </a:spcAft>
              <a:buClr>
                <a:schemeClr val="lt2"/>
              </a:buClr>
              <a:buSzPts val="1800"/>
              <a:buChar char="-"/>
            </a:pPr>
            <a:r>
              <a:rPr lang="en"/>
              <a:t>Tutorial</a:t>
            </a:r>
            <a:endParaRPr/>
          </a:p>
          <a:p>
            <a:pPr indent="-342900" lvl="0" marL="457200" marR="0" rtl="0" algn="l">
              <a:lnSpc>
                <a:spcPct val="200000"/>
              </a:lnSpc>
              <a:spcBef>
                <a:spcPts val="0"/>
              </a:spcBef>
              <a:spcAft>
                <a:spcPts val="0"/>
              </a:spcAft>
              <a:buClr>
                <a:schemeClr val="lt2"/>
              </a:buClr>
              <a:buSzPts val="1800"/>
              <a:buChar char="-"/>
            </a:pPr>
            <a:r>
              <a:rPr lang="en"/>
              <a:t>UI elements</a:t>
            </a:r>
            <a:endParaRPr/>
          </a:p>
          <a:p>
            <a:pPr indent="-342900" lvl="0" marL="457200" marR="0" rtl="0" algn="l">
              <a:lnSpc>
                <a:spcPct val="200000"/>
              </a:lnSpc>
              <a:spcBef>
                <a:spcPts val="0"/>
              </a:spcBef>
              <a:spcAft>
                <a:spcPts val="0"/>
              </a:spcAft>
              <a:buClr>
                <a:schemeClr val="lt2"/>
              </a:buClr>
              <a:buSzPts val="1800"/>
              <a:buChar char="-"/>
            </a:pPr>
            <a:r>
              <a:rPr lang="en"/>
              <a:t>Object spawning</a:t>
            </a:r>
            <a:endParaRPr/>
          </a:p>
          <a:p>
            <a:pPr indent="-342900" lvl="0" marL="457200" marR="0" rtl="0" algn="l">
              <a:lnSpc>
                <a:spcPct val="200000"/>
              </a:lnSpc>
              <a:spcBef>
                <a:spcPts val="0"/>
              </a:spcBef>
              <a:spcAft>
                <a:spcPts val="0"/>
              </a:spcAft>
              <a:buClr>
                <a:schemeClr val="lt2"/>
              </a:buClr>
              <a:buSzPts val="1800"/>
              <a:buChar char="-"/>
            </a:pPr>
            <a:r>
              <a:rPr lang="en"/>
              <a:t>NPC pathfinding</a:t>
            </a:r>
            <a:endParaRPr/>
          </a:p>
        </p:txBody>
      </p:sp>
      <p:grpSp>
        <p:nvGrpSpPr>
          <p:cNvPr id="269" name="Google Shape;269;p33"/>
          <p:cNvGrpSpPr/>
          <p:nvPr/>
        </p:nvGrpSpPr>
        <p:grpSpPr>
          <a:xfrm>
            <a:off x="0" y="-50"/>
            <a:ext cx="9144000" cy="5143500"/>
            <a:chOff x="0" y="-50"/>
            <a:chExt cx="9144000" cy="5143500"/>
          </a:xfrm>
        </p:grpSpPr>
        <p:sp>
          <p:nvSpPr>
            <p:cNvPr id="270" name="Google Shape;270;p33"/>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71" name="Google Shape;271;p33"/>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72" name="Google Shape;272;p33"/>
            <p:cNvSpPr/>
            <p:nvPr/>
          </p:nvSpPr>
          <p:spPr>
            <a:xfrm rot="10800000">
              <a:off x="7549125" y="3527325"/>
              <a:ext cx="1586700" cy="1586700"/>
            </a:xfrm>
            <a:prstGeom prst="diagStripe">
              <a:avLst>
                <a:gd fmla="val 74882" name="adj"/>
              </a:avLst>
            </a:prstGeom>
            <a:solidFill>
              <a:srgbClr val="783F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73" name="Google Shape;273;p33"/>
            <p:cNvSpPr/>
            <p:nvPr/>
          </p:nvSpPr>
          <p:spPr>
            <a:xfrm rot="10800000">
              <a:off x="8169225" y="4147425"/>
              <a:ext cx="966600" cy="966600"/>
            </a:xfrm>
            <a:prstGeom prst="diagStripe">
              <a:avLst>
                <a:gd fmla="val 74882" name="adj"/>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74" name="Google Shape;274;p33"/>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75" name="Google Shape;275;p33"/>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76" name="Google Shape;276;p33"/>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77" name="Google Shape;277;p33"/>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278" name="Google Shape;278;p33"/>
          <p:cNvGrpSpPr/>
          <p:nvPr/>
        </p:nvGrpSpPr>
        <p:grpSpPr>
          <a:xfrm>
            <a:off x="317325" y="408125"/>
            <a:ext cx="7084200" cy="615000"/>
            <a:chOff x="317325" y="408125"/>
            <a:chExt cx="7084200" cy="615000"/>
          </a:xfrm>
        </p:grpSpPr>
        <p:sp>
          <p:nvSpPr>
            <p:cNvPr id="279" name="Google Shape;279;p33"/>
            <p:cNvSpPr/>
            <p:nvPr/>
          </p:nvSpPr>
          <p:spPr>
            <a:xfrm>
              <a:off x="317325" y="408125"/>
              <a:ext cx="7084200" cy="77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33"/>
            <p:cNvSpPr/>
            <p:nvPr/>
          </p:nvSpPr>
          <p:spPr>
            <a:xfrm rot="-5400000">
              <a:off x="48375" y="677075"/>
              <a:ext cx="615000" cy="77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84" name="Shape 284"/>
        <p:cNvGrpSpPr/>
        <p:nvPr/>
      </p:nvGrpSpPr>
      <p:grpSpPr>
        <a:xfrm>
          <a:off x="0" y="0"/>
          <a:ext cx="0" cy="0"/>
          <a:chOff x="0" y="0"/>
          <a:chExt cx="0" cy="0"/>
        </a:xfrm>
      </p:grpSpPr>
      <p:pic>
        <p:nvPicPr>
          <p:cNvPr id="285" name="Google Shape;285;p34"/>
          <p:cNvPicPr preferRelativeResize="0"/>
          <p:nvPr/>
        </p:nvPicPr>
        <p:blipFill rotWithShape="1">
          <a:blip r:embed="rId3">
            <a:alphaModFix amt="70000"/>
          </a:blip>
          <a:srcRect b="0" l="17122" r="0" t="0"/>
          <a:stretch/>
        </p:blipFill>
        <p:spPr>
          <a:xfrm>
            <a:off x="-2" y="36900"/>
            <a:ext cx="9144000" cy="5106600"/>
          </a:xfrm>
          <a:prstGeom prst="rect">
            <a:avLst/>
          </a:prstGeom>
          <a:noFill/>
          <a:ln>
            <a:noFill/>
          </a:ln>
        </p:spPr>
      </p:pic>
      <p:sp>
        <p:nvSpPr>
          <p:cNvPr id="286" name="Google Shape;286;p34"/>
          <p:cNvSpPr txBox="1"/>
          <p:nvPr>
            <p:ph type="title"/>
          </p:nvPr>
        </p:nvSpPr>
        <p:spPr>
          <a:xfrm>
            <a:off x="394425" y="445025"/>
            <a:ext cx="7007100" cy="572700"/>
          </a:xfrm>
          <a:prstGeom prst="rect">
            <a:avLst/>
          </a:prstGeom>
          <a:solidFill>
            <a:srgbClr val="38761D"/>
          </a:solidFill>
        </p:spPr>
        <p:txBody>
          <a:bodyPr anchorCtr="0" anchor="t" bIns="91425" lIns="91425" spcFirstLastPara="1" rIns="91425" wrap="square" tIns="91425">
            <a:normAutofit/>
          </a:bodyPr>
          <a:lstStyle/>
          <a:p>
            <a:pPr indent="0" lvl="0" marL="0" rtl="0" algn="ctr">
              <a:spcBef>
                <a:spcPts val="0"/>
              </a:spcBef>
              <a:spcAft>
                <a:spcPts val="0"/>
              </a:spcAft>
              <a:buNone/>
            </a:pPr>
            <a:r>
              <a:rPr lang="en" sz="2320">
                <a:solidFill>
                  <a:srgbClr val="7EB8FE"/>
                </a:solidFill>
                <a:latin typeface="Algerian"/>
                <a:ea typeface="Algerian"/>
                <a:cs typeface="Algerian"/>
                <a:sym typeface="Algerian"/>
              </a:rPr>
              <a:t>Previous Demo</a:t>
            </a:r>
            <a:endParaRPr>
              <a:latin typeface="Impact"/>
              <a:ea typeface="Impact"/>
              <a:cs typeface="Impact"/>
              <a:sym typeface="Impact"/>
            </a:endParaRPr>
          </a:p>
        </p:txBody>
      </p:sp>
      <p:pic>
        <p:nvPicPr>
          <p:cNvPr id="287" name="Google Shape;287;p34"/>
          <p:cNvPicPr preferRelativeResize="0"/>
          <p:nvPr/>
        </p:nvPicPr>
        <p:blipFill rotWithShape="1">
          <a:blip r:embed="rId4">
            <a:alphaModFix/>
          </a:blip>
          <a:srcRect b="0" l="0" r="0" t="0"/>
          <a:stretch/>
        </p:blipFill>
        <p:spPr>
          <a:xfrm flipH="1">
            <a:off x="9204674" y="2608700"/>
            <a:ext cx="1958700" cy="2534799"/>
          </a:xfrm>
          <a:prstGeom prst="rect">
            <a:avLst/>
          </a:prstGeom>
          <a:noFill/>
          <a:ln>
            <a:noFill/>
          </a:ln>
        </p:spPr>
      </p:pic>
      <p:grpSp>
        <p:nvGrpSpPr>
          <p:cNvPr id="288" name="Google Shape;288;p34"/>
          <p:cNvGrpSpPr/>
          <p:nvPr/>
        </p:nvGrpSpPr>
        <p:grpSpPr>
          <a:xfrm>
            <a:off x="0" y="-50"/>
            <a:ext cx="9144000" cy="5143500"/>
            <a:chOff x="0" y="-50"/>
            <a:chExt cx="9144000" cy="5143500"/>
          </a:xfrm>
        </p:grpSpPr>
        <p:sp>
          <p:nvSpPr>
            <p:cNvPr id="289" name="Google Shape;289;p34"/>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90" name="Google Shape;290;p34"/>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91" name="Google Shape;291;p34"/>
            <p:cNvSpPr/>
            <p:nvPr/>
          </p:nvSpPr>
          <p:spPr>
            <a:xfrm rot="10800000">
              <a:off x="7549125" y="3527325"/>
              <a:ext cx="1586700" cy="1586700"/>
            </a:xfrm>
            <a:prstGeom prst="diagStripe">
              <a:avLst>
                <a:gd fmla="val 74882" name="adj"/>
              </a:avLst>
            </a:prstGeom>
            <a:solidFill>
              <a:srgbClr val="274E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92" name="Google Shape;292;p34"/>
            <p:cNvSpPr/>
            <p:nvPr/>
          </p:nvSpPr>
          <p:spPr>
            <a:xfrm rot="10800000">
              <a:off x="8169225" y="4147425"/>
              <a:ext cx="966600" cy="966600"/>
            </a:xfrm>
            <a:prstGeom prst="diagStripe">
              <a:avLst>
                <a:gd fmla="val 74882" name="adj"/>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93" name="Google Shape;293;p34"/>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94" name="Google Shape;294;p34"/>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95" name="Google Shape;295;p34"/>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296" name="Google Shape;296;p34"/>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297" name="Google Shape;297;p34"/>
          <p:cNvGrpSpPr/>
          <p:nvPr/>
        </p:nvGrpSpPr>
        <p:grpSpPr>
          <a:xfrm>
            <a:off x="317325" y="408125"/>
            <a:ext cx="7084200" cy="615000"/>
            <a:chOff x="317325" y="408125"/>
            <a:chExt cx="7084200" cy="615000"/>
          </a:xfrm>
        </p:grpSpPr>
        <p:sp>
          <p:nvSpPr>
            <p:cNvPr id="298" name="Google Shape;298;p34"/>
            <p:cNvSpPr/>
            <p:nvPr/>
          </p:nvSpPr>
          <p:spPr>
            <a:xfrm>
              <a:off x="317325" y="408125"/>
              <a:ext cx="7084200" cy="77100"/>
            </a:xfrm>
            <a:prstGeom prst="rect">
              <a:avLst/>
            </a:prstGeom>
            <a:solidFill>
              <a:srgbClr val="274E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34"/>
            <p:cNvSpPr/>
            <p:nvPr/>
          </p:nvSpPr>
          <p:spPr>
            <a:xfrm rot="-5400000">
              <a:off x="48375" y="677075"/>
              <a:ext cx="615000" cy="77100"/>
            </a:xfrm>
            <a:prstGeom prst="rect">
              <a:avLst/>
            </a:prstGeom>
            <a:solidFill>
              <a:srgbClr val="274E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300" name="Google Shape;300;p34" title="CSC495 Final - Kyle.mov">
            <a:hlinkClick r:id="rId5"/>
          </p:cNvPr>
          <p:cNvPicPr preferRelativeResize="0"/>
          <p:nvPr/>
        </p:nvPicPr>
        <p:blipFill>
          <a:blip r:embed="rId6">
            <a:alphaModFix/>
          </a:blip>
          <a:stretch>
            <a:fillRect/>
          </a:stretch>
        </p:blipFill>
        <p:spPr>
          <a:xfrm>
            <a:off x="348073" y="1205473"/>
            <a:ext cx="5640398" cy="3172751"/>
          </a:xfrm>
          <a:prstGeom prst="rect">
            <a:avLst/>
          </a:prstGeom>
          <a:noFill/>
          <a:ln cap="flat" cmpd="sng" w="38100">
            <a:solidFill>
              <a:srgbClr val="38761D"/>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04" name="Shape 304"/>
        <p:cNvGrpSpPr/>
        <p:nvPr/>
      </p:nvGrpSpPr>
      <p:grpSpPr>
        <a:xfrm>
          <a:off x="0" y="0"/>
          <a:ext cx="0" cy="0"/>
          <a:chOff x="0" y="0"/>
          <a:chExt cx="0" cy="0"/>
        </a:xfrm>
      </p:grpSpPr>
      <p:pic>
        <p:nvPicPr>
          <p:cNvPr id="305" name="Google Shape;305;p35"/>
          <p:cNvPicPr preferRelativeResize="0"/>
          <p:nvPr/>
        </p:nvPicPr>
        <p:blipFill rotWithShape="1">
          <a:blip r:embed="rId3">
            <a:alphaModFix amt="70000"/>
          </a:blip>
          <a:srcRect b="0" l="17122" r="0" t="0"/>
          <a:stretch/>
        </p:blipFill>
        <p:spPr>
          <a:xfrm>
            <a:off x="-2" y="36900"/>
            <a:ext cx="9144000" cy="5106600"/>
          </a:xfrm>
          <a:prstGeom prst="rect">
            <a:avLst/>
          </a:prstGeom>
          <a:noFill/>
          <a:ln>
            <a:noFill/>
          </a:ln>
        </p:spPr>
      </p:pic>
      <p:sp>
        <p:nvSpPr>
          <p:cNvPr id="306" name="Google Shape;306;p35"/>
          <p:cNvSpPr txBox="1"/>
          <p:nvPr>
            <p:ph type="title"/>
          </p:nvPr>
        </p:nvSpPr>
        <p:spPr>
          <a:xfrm>
            <a:off x="394425" y="445025"/>
            <a:ext cx="7007100" cy="572700"/>
          </a:xfrm>
          <a:prstGeom prst="rect">
            <a:avLst/>
          </a:prstGeom>
          <a:solidFill>
            <a:srgbClr val="38761D"/>
          </a:solidFill>
        </p:spPr>
        <p:txBody>
          <a:bodyPr anchorCtr="0" anchor="t" bIns="91425" lIns="91425" spcFirstLastPara="1" rIns="91425" wrap="square" tIns="91425">
            <a:normAutofit/>
          </a:bodyPr>
          <a:lstStyle/>
          <a:p>
            <a:pPr indent="0" lvl="0" marL="0" rtl="0" algn="ctr">
              <a:spcBef>
                <a:spcPts val="0"/>
              </a:spcBef>
              <a:spcAft>
                <a:spcPts val="0"/>
              </a:spcAft>
              <a:buNone/>
            </a:pPr>
            <a:r>
              <a:rPr lang="en" sz="2320">
                <a:solidFill>
                  <a:srgbClr val="7EB8FE"/>
                </a:solidFill>
                <a:latin typeface="Algerian"/>
                <a:ea typeface="Algerian"/>
                <a:cs typeface="Algerian"/>
                <a:sym typeface="Algerian"/>
              </a:rPr>
              <a:t>Current Demo</a:t>
            </a:r>
            <a:endParaRPr>
              <a:latin typeface="Impact"/>
              <a:ea typeface="Impact"/>
              <a:cs typeface="Impact"/>
              <a:sym typeface="Impact"/>
            </a:endParaRPr>
          </a:p>
        </p:txBody>
      </p:sp>
      <p:pic>
        <p:nvPicPr>
          <p:cNvPr id="307" name="Google Shape;307;p35"/>
          <p:cNvPicPr preferRelativeResize="0"/>
          <p:nvPr/>
        </p:nvPicPr>
        <p:blipFill>
          <a:blip r:embed="rId4">
            <a:alphaModFix/>
          </a:blip>
          <a:stretch>
            <a:fillRect/>
          </a:stretch>
        </p:blipFill>
        <p:spPr>
          <a:xfrm>
            <a:off x="6243795" y="2187425"/>
            <a:ext cx="2284201" cy="2956025"/>
          </a:xfrm>
          <a:prstGeom prst="rect">
            <a:avLst/>
          </a:prstGeom>
          <a:noFill/>
          <a:ln>
            <a:noFill/>
          </a:ln>
        </p:spPr>
      </p:pic>
      <p:grpSp>
        <p:nvGrpSpPr>
          <p:cNvPr id="308" name="Google Shape;308;p35"/>
          <p:cNvGrpSpPr/>
          <p:nvPr/>
        </p:nvGrpSpPr>
        <p:grpSpPr>
          <a:xfrm>
            <a:off x="0" y="-50"/>
            <a:ext cx="9144000" cy="5143500"/>
            <a:chOff x="0" y="-50"/>
            <a:chExt cx="9144000" cy="5143500"/>
          </a:xfrm>
        </p:grpSpPr>
        <p:sp>
          <p:nvSpPr>
            <p:cNvPr id="309" name="Google Shape;309;p35"/>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10" name="Google Shape;310;p35"/>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11" name="Google Shape;311;p35"/>
            <p:cNvSpPr/>
            <p:nvPr/>
          </p:nvSpPr>
          <p:spPr>
            <a:xfrm rot="10800000">
              <a:off x="7549125" y="3527325"/>
              <a:ext cx="1586700" cy="1586700"/>
            </a:xfrm>
            <a:prstGeom prst="diagStripe">
              <a:avLst>
                <a:gd fmla="val 74882" name="adj"/>
              </a:avLst>
            </a:prstGeom>
            <a:solidFill>
              <a:srgbClr val="274E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12" name="Google Shape;312;p35"/>
            <p:cNvSpPr/>
            <p:nvPr/>
          </p:nvSpPr>
          <p:spPr>
            <a:xfrm rot="10800000">
              <a:off x="8169225" y="4147425"/>
              <a:ext cx="966600" cy="966600"/>
            </a:xfrm>
            <a:prstGeom prst="diagStripe">
              <a:avLst>
                <a:gd fmla="val 74882" name="adj"/>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13" name="Google Shape;313;p35"/>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14" name="Google Shape;314;p35"/>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15" name="Google Shape;315;p35"/>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16" name="Google Shape;316;p35"/>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317" name="Google Shape;317;p35"/>
          <p:cNvGrpSpPr/>
          <p:nvPr/>
        </p:nvGrpSpPr>
        <p:grpSpPr>
          <a:xfrm>
            <a:off x="317325" y="408125"/>
            <a:ext cx="7084200" cy="615000"/>
            <a:chOff x="317325" y="408125"/>
            <a:chExt cx="7084200" cy="615000"/>
          </a:xfrm>
        </p:grpSpPr>
        <p:sp>
          <p:nvSpPr>
            <p:cNvPr id="318" name="Google Shape;318;p35"/>
            <p:cNvSpPr/>
            <p:nvPr/>
          </p:nvSpPr>
          <p:spPr>
            <a:xfrm>
              <a:off x="317325" y="408125"/>
              <a:ext cx="7084200" cy="77100"/>
            </a:xfrm>
            <a:prstGeom prst="rect">
              <a:avLst/>
            </a:prstGeom>
            <a:solidFill>
              <a:srgbClr val="274E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35"/>
            <p:cNvSpPr/>
            <p:nvPr/>
          </p:nvSpPr>
          <p:spPr>
            <a:xfrm rot="-5400000">
              <a:off x="48375" y="677075"/>
              <a:ext cx="615000" cy="77100"/>
            </a:xfrm>
            <a:prstGeom prst="rect">
              <a:avLst/>
            </a:prstGeom>
            <a:solidFill>
              <a:srgbClr val="274E1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320" name="Google Shape;320;p35" title="CSC496 Spring Midterm part 1.mov">
            <a:hlinkClick r:id="rId5"/>
          </p:cNvPr>
          <p:cNvPicPr preferRelativeResize="0"/>
          <p:nvPr/>
        </p:nvPicPr>
        <p:blipFill>
          <a:blip r:embed="rId6">
            <a:alphaModFix/>
          </a:blip>
          <a:stretch>
            <a:fillRect/>
          </a:stretch>
        </p:blipFill>
        <p:spPr>
          <a:xfrm>
            <a:off x="394425" y="1239100"/>
            <a:ext cx="5547677" cy="3120563"/>
          </a:xfrm>
          <a:prstGeom prst="rect">
            <a:avLst/>
          </a:prstGeom>
          <a:noFill/>
          <a:ln cap="flat" cmpd="sng" w="28575">
            <a:solidFill>
              <a:srgbClr val="38761D"/>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24" name="Shape 324"/>
        <p:cNvGrpSpPr/>
        <p:nvPr/>
      </p:nvGrpSpPr>
      <p:grpSpPr>
        <a:xfrm>
          <a:off x="0" y="0"/>
          <a:ext cx="0" cy="0"/>
          <a:chOff x="0" y="0"/>
          <a:chExt cx="0" cy="0"/>
        </a:xfrm>
      </p:grpSpPr>
      <p:pic>
        <p:nvPicPr>
          <p:cNvPr id="325" name="Google Shape;325;p36"/>
          <p:cNvPicPr preferRelativeResize="0"/>
          <p:nvPr/>
        </p:nvPicPr>
        <p:blipFill>
          <a:blip r:embed="rId3">
            <a:alphaModFix amt="30000"/>
          </a:blip>
          <a:stretch>
            <a:fillRect/>
          </a:stretch>
        </p:blipFill>
        <p:spPr>
          <a:xfrm>
            <a:off x="0" y="39314"/>
            <a:ext cx="9144002" cy="5064873"/>
          </a:xfrm>
          <a:prstGeom prst="rect">
            <a:avLst/>
          </a:prstGeom>
          <a:noFill/>
          <a:ln>
            <a:noFill/>
          </a:ln>
        </p:spPr>
      </p:pic>
      <p:sp>
        <p:nvSpPr>
          <p:cNvPr id="326" name="Google Shape;326;p36"/>
          <p:cNvSpPr txBox="1"/>
          <p:nvPr>
            <p:ph type="title"/>
          </p:nvPr>
        </p:nvSpPr>
        <p:spPr>
          <a:xfrm>
            <a:off x="394425" y="445025"/>
            <a:ext cx="7007100" cy="572700"/>
          </a:xfrm>
          <a:prstGeom prst="rect">
            <a:avLst/>
          </a:prstGeom>
          <a:solidFill>
            <a:srgbClr val="783F04"/>
          </a:solidFill>
        </p:spPr>
        <p:txBody>
          <a:bodyPr anchorCtr="0" anchor="t" bIns="91425" lIns="91425" spcFirstLastPara="1" rIns="91425" wrap="square" tIns="91425">
            <a:normAutofit/>
          </a:bodyPr>
          <a:lstStyle/>
          <a:p>
            <a:pPr indent="0" lvl="0" marL="0" rtl="0" algn="ctr">
              <a:spcBef>
                <a:spcPts val="0"/>
              </a:spcBef>
              <a:spcAft>
                <a:spcPts val="0"/>
              </a:spcAft>
              <a:buNone/>
            </a:pPr>
            <a:r>
              <a:rPr lang="en" sz="2320">
                <a:solidFill>
                  <a:srgbClr val="7EB8FE"/>
                </a:solidFill>
                <a:latin typeface="Algerian"/>
                <a:ea typeface="Algerian"/>
                <a:cs typeface="Algerian"/>
                <a:sym typeface="Algerian"/>
              </a:rPr>
              <a:t>Summary</a:t>
            </a:r>
            <a:endParaRPr>
              <a:latin typeface="Impact"/>
              <a:ea typeface="Impact"/>
              <a:cs typeface="Impact"/>
              <a:sym typeface="Impact"/>
            </a:endParaRPr>
          </a:p>
        </p:txBody>
      </p:sp>
      <p:grpSp>
        <p:nvGrpSpPr>
          <p:cNvPr id="327" name="Google Shape;327;p36"/>
          <p:cNvGrpSpPr/>
          <p:nvPr/>
        </p:nvGrpSpPr>
        <p:grpSpPr>
          <a:xfrm>
            <a:off x="0" y="-50"/>
            <a:ext cx="9144000" cy="5143500"/>
            <a:chOff x="0" y="-50"/>
            <a:chExt cx="9144000" cy="5143500"/>
          </a:xfrm>
        </p:grpSpPr>
        <p:sp>
          <p:nvSpPr>
            <p:cNvPr id="328" name="Google Shape;328;p36"/>
            <p:cNvSpPr/>
            <p:nvPr/>
          </p:nvSpPr>
          <p:spPr>
            <a:xfrm rot="10800000">
              <a:off x="8169225" y="4147425"/>
              <a:ext cx="966600" cy="966600"/>
            </a:xfrm>
            <a:prstGeom prst="diagStripe">
              <a:avLst>
                <a:gd fmla="val 656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29" name="Google Shape;329;p36"/>
            <p:cNvSpPr/>
            <p:nvPr/>
          </p:nvSpPr>
          <p:spPr>
            <a:xfrm rot="10800000">
              <a:off x="7549125" y="3527325"/>
              <a:ext cx="1586700" cy="1586700"/>
            </a:xfrm>
            <a:prstGeom prst="diagStripe">
              <a:avLst>
                <a:gd fmla="val 6744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30" name="Google Shape;330;p36"/>
            <p:cNvSpPr/>
            <p:nvPr/>
          </p:nvSpPr>
          <p:spPr>
            <a:xfrm rot="10800000">
              <a:off x="7549125" y="3527325"/>
              <a:ext cx="1586700" cy="1586700"/>
            </a:xfrm>
            <a:prstGeom prst="diagStripe">
              <a:avLst>
                <a:gd fmla="val 74882" name="adj"/>
              </a:avLst>
            </a:prstGeom>
            <a:solidFill>
              <a:srgbClr val="783F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31" name="Google Shape;331;p36"/>
            <p:cNvSpPr/>
            <p:nvPr/>
          </p:nvSpPr>
          <p:spPr>
            <a:xfrm rot="10800000">
              <a:off x="8169225" y="4147425"/>
              <a:ext cx="966600" cy="966600"/>
            </a:xfrm>
            <a:prstGeom prst="diagStripe">
              <a:avLst>
                <a:gd fmla="val 74882" name="adj"/>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32" name="Google Shape;332;p36"/>
            <p:cNvSpPr/>
            <p:nvPr/>
          </p:nvSpPr>
          <p:spPr>
            <a:xfrm>
              <a:off x="0" y="501805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33" name="Google Shape;333;p36"/>
            <p:cNvSpPr/>
            <p:nvPr/>
          </p:nvSpPr>
          <p:spPr>
            <a:xfrm>
              <a:off x="0" y="0"/>
              <a:ext cx="91440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34" name="Google Shape;334;p36"/>
            <p:cNvSpPr/>
            <p:nvPr/>
          </p:nvSpPr>
          <p:spPr>
            <a:xfrm rot="-5400000">
              <a:off x="-2483250" y="248320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sp>
          <p:nvSpPr>
            <p:cNvPr id="335" name="Google Shape;335;p36"/>
            <p:cNvSpPr/>
            <p:nvPr/>
          </p:nvSpPr>
          <p:spPr>
            <a:xfrm rot="-5400000">
              <a:off x="6535350" y="2509050"/>
              <a:ext cx="5091900" cy="12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mpact"/>
                <a:ea typeface="Impact"/>
                <a:cs typeface="Impact"/>
                <a:sym typeface="Impact"/>
              </a:endParaRPr>
            </a:p>
          </p:txBody>
        </p:sp>
      </p:grpSp>
      <p:grpSp>
        <p:nvGrpSpPr>
          <p:cNvPr id="336" name="Google Shape;336;p36"/>
          <p:cNvGrpSpPr/>
          <p:nvPr/>
        </p:nvGrpSpPr>
        <p:grpSpPr>
          <a:xfrm>
            <a:off x="317325" y="408125"/>
            <a:ext cx="7084200" cy="615000"/>
            <a:chOff x="317325" y="408125"/>
            <a:chExt cx="7084200" cy="615000"/>
          </a:xfrm>
        </p:grpSpPr>
        <p:sp>
          <p:nvSpPr>
            <p:cNvPr id="337" name="Google Shape;337;p36"/>
            <p:cNvSpPr/>
            <p:nvPr/>
          </p:nvSpPr>
          <p:spPr>
            <a:xfrm>
              <a:off x="317325" y="408125"/>
              <a:ext cx="7084200" cy="77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36"/>
            <p:cNvSpPr/>
            <p:nvPr/>
          </p:nvSpPr>
          <p:spPr>
            <a:xfrm rot="-5400000">
              <a:off x="48375" y="677075"/>
              <a:ext cx="615000" cy="771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339" name="Google Shape;339;p36"/>
          <p:cNvPicPr preferRelativeResize="0"/>
          <p:nvPr/>
        </p:nvPicPr>
        <p:blipFill>
          <a:blip r:embed="rId4">
            <a:alphaModFix/>
          </a:blip>
          <a:stretch>
            <a:fillRect/>
          </a:stretch>
        </p:blipFill>
        <p:spPr>
          <a:xfrm>
            <a:off x="2782975" y="1152475"/>
            <a:ext cx="3578036" cy="3416400"/>
          </a:xfrm>
          <a:prstGeom prst="rect">
            <a:avLst/>
          </a:prstGeom>
          <a:noFill/>
          <a:ln cap="flat" cmpd="sng" w="38100">
            <a:solidFill>
              <a:srgbClr val="783F04"/>
            </a:solidFill>
            <a:prstDash val="solid"/>
            <a:round/>
            <a:headEnd len="sm" w="sm" type="none"/>
            <a:tailEnd len="sm" w="sm" type="none"/>
          </a:ln>
        </p:spPr>
      </p:pic>
      <p:pic>
        <p:nvPicPr>
          <p:cNvPr id="340" name="Google Shape;340;p36"/>
          <p:cNvPicPr preferRelativeResize="0"/>
          <p:nvPr/>
        </p:nvPicPr>
        <p:blipFill rotWithShape="1">
          <a:blip r:embed="rId5">
            <a:alphaModFix/>
          </a:blip>
          <a:srcRect b="0" l="0" r="0" t="0"/>
          <a:stretch/>
        </p:blipFill>
        <p:spPr>
          <a:xfrm>
            <a:off x="-2140051" y="2608700"/>
            <a:ext cx="1958700" cy="2534799"/>
          </a:xfrm>
          <a:prstGeom prst="rect">
            <a:avLst/>
          </a:prstGeom>
          <a:noFill/>
          <a:ln>
            <a:noFill/>
          </a:ln>
        </p:spPr>
      </p:pic>
      <p:pic>
        <p:nvPicPr>
          <p:cNvPr id="341" name="Google Shape;341;p36" title="james_happy.png"/>
          <p:cNvPicPr preferRelativeResize="0"/>
          <p:nvPr/>
        </p:nvPicPr>
        <p:blipFill>
          <a:blip r:embed="rId6">
            <a:alphaModFix/>
          </a:blip>
          <a:stretch>
            <a:fillRect/>
          </a:stretch>
        </p:blipFill>
        <p:spPr>
          <a:xfrm>
            <a:off x="952400" y="1417800"/>
            <a:ext cx="1040075" cy="1040075"/>
          </a:xfrm>
          <a:prstGeom prst="rect">
            <a:avLst/>
          </a:prstGeom>
          <a:noFill/>
          <a:ln cap="flat" cmpd="sng" w="38100">
            <a:solidFill>
              <a:srgbClr val="783F04"/>
            </a:solidFill>
            <a:prstDash val="solid"/>
            <a:round/>
            <a:headEnd len="sm" w="sm" type="none"/>
            <a:tailEnd len="sm" w="sm" type="none"/>
          </a:ln>
        </p:spPr>
      </p:pic>
      <p:pic>
        <p:nvPicPr>
          <p:cNvPr id="342" name="Google Shape;342;p36" title="johnny_happy.png"/>
          <p:cNvPicPr preferRelativeResize="0"/>
          <p:nvPr/>
        </p:nvPicPr>
        <p:blipFill>
          <a:blip r:embed="rId7">
            <a:alphaModFix/>
          </a:blip>
          <a:stretch>
            <a:fillRect/>
          </a:stretch>
        </p:blipFill>
        <p:spPr>
          <a:xfrm flipH="1">
            <a:off x="7151500" y="1417800"/>
            <a:ext cx="1040075" cy="1040075"/>
          </a:xfrm>
          <a:prstGeom prst="rect">
            <a:avLst/>
          </a:prstGeom>
          <a:noFill/>
          <a:ln cap="flat" cmpd="sng" w="38100">
            <a:solidFill>
              <a:srgbClr val="783F04"/>
            </a:solidFill>
            <a:prstDash val="solid"/>
            <a:round/>
            <a:headEnd len="sm" w="sm" type="none"/>
            <a:tailEnd len="sm" w="sm" type="none"/>
          </a:ln>
        </p:spPr>
      </p:pic>
      <p:pic>
        <p:nvPicPr>
          <p:cNvPr id="343" name="Google Shape;343;p36"/>
          <p:cNvPicPr preferRelativeResize="0"/>
          <p:nvPr/>
        </p:nvPicPr>
        <p:blipFill rotWithShape="1">
          <a:blip r:embed="rId8">
            <a:alphaModFix/>
          </a:blip>
          <a:srcRect b="0" l="6427" r="9219" t="0"/>
          <a:stretch/>
        </p:blipFill>
        <p:spPr>
          <a:xfrm>
            <a:off x="2782975" y="1152475"/>
            <a:ext cx="3578025" cy="3416400"/>
          </a:xfrm>
          <a:prstGeom prst="rect">
            <a:avLst/>
          </a:prstGeom>
          <a:noFill/>
          <a:ln cap="flat" cmpd="sng" w="38100">
            <a:solidFill>
              <a:srgbClr val="783F04"/>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